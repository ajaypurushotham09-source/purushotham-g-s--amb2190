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olors1.xml" ContentType="application/vnd.ms-office.chartcolorstyl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charts/style1.xml" ContentType="application/vnd.ms-office.chartstyl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4" r:id="rId1"/>
  </p:sldMasterIdLst>
  <p:notesMasterIdLst>
    <p:notesMasterId r:id="rId19"/>
  </p:notesMasterIdLst>
  <p:handoutMasterIdLst>
    <p:handoutMasterId r:id="rId20"/>
  </p:handoutMasterIdLst>
  <p:sldIdLst>
    <p:sldId id="268" r:id="rId2"/>
    <p:sldId id="269" r:id="rId3"/>
    <p:sldId id="270" r:id="rId4"/>
    <p:sldId id="271" r:id="rId5"/>
    <p:sldId id="272" r:id="rId6"/>
    <p:sldId id="273" r:id="rId7"/>
    <p:sldId id="286" r:id="rId8"/>
    <p:sldId id="274" r:id="rId9"/>
    <p:sldId id="281" r:id="rId10"/>
    <p:sldId id="275" r:id="rId11"/>
    <p:sldId id="282" r:id="rId12"/>
    <p:sldId id="283" r:id="rId13"/>
    <p:sldId id="276" r:id="rId14"/>
    <p:sldId id="277" r:id="rId15"/>
    <p:sldId id="278" r:id="rId16"/>
    <p:sldId id="284" r:id="rId17"/>
    <p:sldId id="285" r:id="rId18"/>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orient="horz" pos="384">
          <p15:clr>
            <a:srgbClr val="A4A3A4"/>
          </p15:clr>
        </p15:guide>
        <p15:guide id="3" orient="horz" pos="3792">
          <p15:clr>
            <a:srgbClr val="A4A3A4"/>
          </p15:clr>
        </p15:guide>
        <p15:guide id="4" pos="959">
          <p15:clr>
            <a:srgbClr val="A4A3A4"/>
          </p15:clr>
        </p15:guide>
        <p15:guide id="5" pos="671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p:cViewPr varScale="1">
        <p:scale>
          <a:sx n="69" d="100"/>
          <a:sy n="69" d="100"/>
        </p:scale>
        <p:origin x="-560" y="-68"/>
      </p:cViewPr>
      <p:guideLst>
        <p:guide orient="horz" pos="2160"/>
        <p:guide orient="horz" pos="384"/>
        <p:guide orient="horz" pos="3792"/>
        <p:guide pos="959"/>
        <p:guide pos="6719"/>
      </p:guideLst>
    </p:cSldViewPr>
  </p:slideViewPr>
  <p:notesTextViewPr>
    <p:cViewPr>
      <p:scale>
        <a:sx n="100" d="100"/>
        <a:sy n="100" d="100"/>
      </p:scale>
      <p:origin x="0" y="0"/>
    </p:cViewPr>
  </p:notesTextViewPr>
  <p:notesViewPr>
    <p:cSldViewPr showGuides="1">
      <p:cViewPr varScale="1">
        <p:scale>
          <a:sx n="76" d="100"/>
          <a:sy n="76" d="100"/>
        </p:scale>
        <p:origin x="2538"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layout/>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plotArea>
      <c:layout/>
      <c:barChart>
        <c:barDir val="bar"/>
        <c:grouping val="clustered"/>
        <c:ser>
          <c:idx val="0"/>
          <c:order val="0"/>
          <c:tx>
            <c:strRef>
              <c:f>Sheet1!$B$1</c:f>
              <c:strCache>
                <c:ptCount val="1"/>
                <c:pt idx="0">
                  <c:v>R^2 VALUE</c:v>
                </c:pt>
              </c:strCache>
            </c:strRef>
          </c:tx>
          <c:spPr>
            <a:solidFill>
              <a:schemeClr val="accent1"/>
            </a:solidFill>
            <a:ln>
              <a:noFill/>
            </a:ln>
            <a:effectLst/>
          </c:spPr>
          <c:cat>
            <c:strRef>
              <c:f>Sheet1!$A$2:$A$5</c:f>
              <c:strCache>
                <c:ptCount val="4"/>
                <c:pt idx="0">
                  <c:v>LINEAR REGRESSION</c:v>
                </c:pt>
                <c:pt idx="1">
                  <c:v>DECISION TREE</c:v>
                </c:pt>
                <c:pt idx="2">
                  <c:v>RANDOM FOREST</c:v>
                </c:pt>
                <c:pt idx="3">
                  <c:v>TUNED RANDOM FOREST</c:v>
                </c:pt>
              </c:strCache>
            </c:strRef>
          </c:cat>
          <c:val>
            <c:numRef>
              <c:f>Sheet1!$B$2:$B$5</c:f>
              <c:numCache>
                <c:formatCode>General</c:formatCode>
                <c:ptCount val="4"/>
                <c:pt idx="0">
                  <c:v>0.78339999999999999</c:v>
                </c:pt>
                <c:pt idx="1">
                  <c:v>0.92530000000000001</c:v>
                </c:pt>
                <c:pt idx="2">
                  <c:v>0.96530000000000005</c:v>
                </c:pt>
                <c:pt idx="3">
                  <c:v>0.96570000000000011</c:v>
                </c:pt>
              </c:numCache>
            </c:numRef>
          </c:val>
          <c:extLst xmlns:c16r2="http://schemas.microsoft.com/office/drawing/2015/06/chart">
            <c:ext xmlns:c16="http://schemas.microsoft.com/office/drawing/2014/chart" uri="{C3380CC4-5D6E-409C-BE32-E72D297353CC}">
              <c16:uniqueId val="{00000000-CF09-4B54-BB92-93AEA0357223}"/>
            </c:ext>
          </c:extLst>
        </c:ser>
        <c:dLbls/>
        <c:gapWidth val="182"/>
        <c:axId val="116565504"/>
        <c:axId val="116567040"/>
      </c:barChart>
      <c:catAx>
        <c:axId val="116565504"/>
        <c:scaling>
          <c:orientation val="minMax"/>
        </c:scaling>
        <c:axPos val="l"/>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567040"/>
        <c:crosses val="autoZero"/>
        <c:auto val="1"/>
        <c:lblAlgn val="ctr"/>
        <c:lblOffset val="100"/>
      </c:catAx>
      <c:valAx>
        <c:axId val="116567040"/>
        <c:scaling>
          <c:orientation val="minMax"/>
        </c:scaling>
        <c:axPos val="b"/>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565504"/>
        <c:crosses val="autoZero"/>
        <c:crossBetween val="between"/>
      </c:valAx>
      <c:spPr>
        <a:noFill/>
        <a:ln>
          <a:noFill/>
        </a:ln>
        <a:effectLst/>
      </c:spPr>
    </c:plotArea>
    <c:legend>
      <c:legendPos val="b"/>
      <c:layout/>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EA74EB7-856E-45FD-83F0-5F7C6F3E4372}" type="datetimeFigureOut">
              <a:rPr lang="en-US"/>
              <a:pPr/>
              <a:t>4/16/2026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4886E15-F82A-4596-A46C-375C6D3981E1}" type="slidenum">
              <a:rPr/>
              <a:pPr/>
              <a:t>‹#›</a:t>
            </a:fld>
            <a:endParaRPr dirty="0"/>
          </a:p>
        </p:txBody>
      </p:sp>
    </p:spTree>
    <p:extLst>
      <p:ext uri="{BB962C8B-B14F-4D97-AF65-F5344CB8AC3E}">
        <p14:creationId xmlns:p14="http://schemas.microsoft.com/office/powerpoint/2010/main" xmlns="" val="868308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1B0E40-8125-41F8-BB6C-139D8D531A4F}" type="datetimeFigureOut">
              <a:rPr lang="en-US"/>
              <a:pPr/>
              <a:t>4/16/2026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105DB2-FD3E-441D-8B7E-7AE83ECE27B3}" type="slidenum">
              <a:rPr/>
              <a:pPr/>
              <a:t>‹#›</a:t>
            </a:fld>
            <a:endParaRPr dirty="0"/>
          </a:p>
        </p:txBody>
      </p:sp>
    </p:spTree>
    <p:extLst>
      <p:ext uri="{BB962C8B-B14F-4D97-AF65-F5344CB8AC3E}">
        <p14:creationId xmlns:p14="http://schemas.microsoft.com/office/powerpoint/2010/main" xmlns="" val="2894720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105DB2-FD3E-441D-8B7E-7AE83ECE27B3}" type="slidenum">
              <a:rPr lang="en-US" smtClean="0"/>
              <a:pPr/>
              <a:t>1</a:t>
            </a:fld>
            <a:endParaRPr lang="en-US" dirty="0"/>
          </a:p>
        </p:txBody>
      </p:sp>
    </p:spTree>
    <p:extLst>
      <p:ext uri="{BB962C8B-B14F-4D97-AF65-F5344CB8AC3E}">
        <p14:creationId xmlns:p14="http://schemas.microsoft.com/office/powerpoint/2010/main" xmlns="" val="4085276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2</a:t>
            </a:fld>
            <a:endParaRPr lang="en-US" dirty="0"/>
          </a:p>
        </p:txBody>
      </p:sp>
    </p:spTree>
    <p:extLst>
      <p:ext uri="{BB962C8B-B14F-4D97-AF65-F5344CB8AC3E}">
        <p14:creationId xmlns:p14="http://schemas.microsoft.com/office/powerpoint/2010/main" xmlns="" val="2725600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3</a:t>
            </a:fld>
            <a:endParaRPr lang="en-US" dirty="0"/>
          </a:p>
        </p:txBody>
      </p:sp>
    </p:spTree>
    <p:extLst>
      <p:ext uri="{BB962C8B-B14F-4D97-AF65-F5344CB8AC3E}">
        <p14:creationId xmlns:p14="http://schemas.microsoft.com/office/powerpoint/2010/main" xmlns="" val="3546443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4</a:t>
            </a:fld>
            <a:endParaRPr lang="en-US" dirty="0"/>
          </a:p>
        </p:txBody>
      </p:sp>
    </p:spTree>
    <p:extLst>
      <p:ext uri="{BB962C8B-B14F-4D97-AF65-F5344CB8AC3E}">
        <p14:creationId xmlns:p14="http://schemas.microsoft.com/office/powerpoint/2010/main" xmlns="" val="2805730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5</a:t>
            </a:fld>
            <a:endParaRPr lang="en-US" dirty="0"/>
          </a:p>
        </p:txBody>
      </p:sp>
    </p:spTree>
    <p:extLst>
      <p:ext uri="{BB962C8B-B14F-4D97-AF65-F5344CB8AC3E}">
        <p14:creationId xmlns:p14="http://schemas.microsoft.com/office/powerpoint/2010/main" xmlns="" val="1965874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6</a:t>
            </a:fld>
            <a:endParaRPr lang="en-US" dirty="0"/>
          </a:p>
        </p:txBody>
      </p:sp>
    </p:spTree>
    <p:extLst>
      <p:ext uri="{BB962C8B-B14F-4D97-AF65-F5344CB8AC3E}">
        <p14:creationId xmlns:p14="http://schemas.microsoft.com/office/powerpoint/2010/main" xmlns="" val="1400489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8</a:t>
            </a:fld>
            <a:endParaRPr lang="en-US" dirty="0"/>
          </a:p>
        </p:txBody>
      </p:sp>
    </p:spTree>
    <p:extLst>
      <p:ext uri="{BB962C8B-B14F-4D97-AF65-F5344CB8AC3E}">
        <p14:creationId xmlns:p14="http://schemas.microsoft.com/office/powerpoint/2010/main" xmlns="" val="1169345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10</a:t>
            </a:fld>
            <a:endParaRPr lang="en-US" dirty="0"/>
          </a:p>
        </p:txBody>
      </p:sp>
    </p:spTree>
    <p:extLst>
      <p:ext uri="{BB962C8B-B14F-4D97-AF65-F5344CB8AC3E}">
        <p14:creationId xmlns:p14="http://schemas.microsoft.com/office/powerpoint/2010/main" xmlns="" val="3358315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105DB2-FD3E-441D-8B7E-7AE83ECE27B3}" type="slidenum">
              <a:rPr lang="en-US" smtClean="0"/>
              <a:pPr/>
              <a:t>13</a:t>
            </a:fld>
            <a:endParaRPr lang="en-US" dirty="0"/>
          </a:p>
        </p:txBody>
      </p:sp>
    </p:spTree>
    <p:extLst>
      <p:ext uri="{BB962C8B-B14F-4D97-AF65-F5344CB8AC3E}">
        <p14:creationId xmlns:p14="http://schemas.microsoft.com/office/powerpoint/2010/main" xmlns="" val="3974002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pPr/>
              <a:t>14</a:t>
            </a:fld>
            <a:endParaRPr lang="en-US" dirty="0"/>
          </a:p>
        </p:txBody>
      </p:sp>
    </p:spTree>
    <p:extLst>
      <p:ext uri="{BB962C8B-B14F-4D97-AF65-F5344CB8AC3E}">
        <p14:creationId xmlns:p14="http://schemas.microsoft.com/office/powerpoint/2010/main" xmlns="" val="1581744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105DB2-FD3E-441D-8B7E-7AE83ECE27B3}" type="slidenum">
              <a:rPr lang="en-US" smtClean="0"/>
              <a:pPr/>
              <a:t>15</a:t>
            </a:fld>
            <a:endParaRPr lang="en-US" dirty="0"/>
          </a:p>
        </p:txBody>
      </p:sp>
    </p:spTree>
    <p:extLst>
      <p:ext uri="{BB962C8B-B14F-4D97-AF65-F5344CB8AC3E}">
        <p14:creationId xmlns:p14="http://schemas.microsoft.com/office/powerpoint/2010/main" xmlns="" val="3272217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title block"/>
          <p:cNvSpPr/>
          <p:nvPr/>
        </p:nvSpPr>
        <p:spPr bwMode="invGray">
          <a:xfrm>
            <a:off x="1141413" y="1600200"/>
            <a:ext cx="11047412" cy="3276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top graphic"/>
          <p:cNvGrpSpPr/>
          <p:nvPr/>
        </p:nvGrpSpPr>
        <p:grpSpPr>
          <a:xfrm>
            <a:off x="1279" y="0"/>
            <a:ext cx="12188952" cy="429768"/>
            <a:chOff x="1279" y="0"/>
            <a:chExt cx="12188952" cy="429768"/>
          </a:xfrm>
        </p:grpSpPr>
        <p:sp>
          <p:nvSpPr>
            <p:cNvPr id="8" name="Rectangle 7"/>
            <p:cNvSpPr/>
            <p:nvPr/>
          </p:nvSpPr>
          <p:spPr>
            <a:xfrm>
              <a:off x="1279" y="0"/>
              <a:ext cx="12188952"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228600"/>
              <a:ext cx="12188952" cy="2011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1279" y="306324"/>
              <a:ext cx="12188952"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grpSp>
        <p:nvGrpSpPr>
          <p:cNvPr id="23" name="bottom graphic"/>
          <p:cNvGrpSpPr/>
          <p:nvPr/>
        </p:nvGrpSpPr>
        <p:grpSpPr>
          <a:xfrm>
            <a:off x="0" y="6080760"/>
            <a:ext cx="12190231" cy="777240"/>
            <a:chOff x="0" y="6080760"/>
            <a:chExt cx="12190231" cy="777240"/>
          </a:xfrm>
        </p:grpSpPr>
        <p:sp>
          <p:nvSpPr>
            <p:cNvPr id="13" name="Rectangle 12"/>
            <p:cNvSpPr/>
            <p:nvPr/>
          </p:nvSpPr>
          <p:spPr>
            <a:xfrm>
              <a:off x="0" y="6217920"/>
              <a:ext cx="12188825" cy="64008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14" name="Rectangle 13"/>
            <p:cNvSpPr/>
            <p:nvPr/>
          </p:nvSpPr>
          <p:spPr>
            <a:xfrm>
              <a:off x="1279" y="60807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5" name="Rectangle 14"/>
            <p:cNvSpPr/>
            <p:nvPr/>
          </p:nvSpPr>
          <p:spPr>
            <a:xfrm>
              <a:off x="1279" y="6172200"/>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ctrTitle"/>
          </p:nvPr>
        </p:nvSpPr>
        <p:spPr bwMode="invGray">
          <a:xfrm>
            <a:off x="1522414" y="1905000"/>
            <a:ext cx="9143998" cy="2667000"/>
          </a:xfrm>
        </p:spPr>
        <p:txBody>
          <a:bodyPr anchor="b">
            <a:normAutofit/>
          </a:bodyPr>
          <a:lstStyle>
            <a:lvl1pPr>
              <a:lnSpc>
                <a:spcPct val="80000"/>
              </a:lnSpc>
              <a:defRPr sz="6600">
                <a:solidFill>
                  <a:schemeClr val="bg1"/>
                </a:solidFill>
                <a:effectLst>
                  <a:outerShdw blurRad="88900" algn="ctr" rotWithShape="0">
                    <a:prstClr val="black">
                      <a:alpha val="35000"/>
                    </a:prstClr>
                  </a:outerShdw>
                </a:effectLst>
              </a:defRPr>
            </a:lvl1pPr>
          </a:lstStyle>
          <a:p>
            <a:r>
              <a:rPr lang="en-US"/>
              <a:t>Click to edit Master title style</a:t>
            </a:r>
            <a:endParaRPr dirty="0"/>
          </a:p>
        </p:txBody>
      </p:sp>
      <p:sp>
        <p:nvSpPr>
          <p:cNvPr id="3" name="Subtitle 2"/>
          <p:cNvSpPr>
            <a:spLocks noGrp="1"/>
          </p:cNvSpPr>
          <p:nvPr>
            <p:ph type="subTitle" idx="1"/>
          </p:nvPr>
        </p:nvSpPr>
        <p:spPr>
          <a:xfrm>
            <a:off x="1522413" y="5029200"/>
            <a:ext cx="8229598" cy="838200"/>
          </a:xfrm>
        </p:spPr>
        <p:txBody>
          <a:bodyPr/>
          <a:lstStyle>
            <a:lvl1pPr marL="0" indent="0" algn="l">
              <a:lnSpc>
                <a:spcPct val="90000"/>
              </a:lnSpc>
              <a:spcBef>
                <a:spcPts val="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21" name="Footer Placeholder 20"/>
          <p:cNvSpPr>
            <a:spLocks noGrp="1"/>
          </p:cNvSpPr>
          <p:nvPr>
            <p:ph type="ftr" sz="quarter" idx="11"/>
          </p:nvPr>
        </p:nvSpPr>
        <p:spPr/>
        <p:txBody>
          <a:bodyPr/>
          <a:lstStyle/>
          <a:p>
            <a:r>
              <a:rPr lang="en-US" dirty="0"/>
              <a:t>Add a footer</a:t>
            </a:r>
          </a:p>
        </p:txBody>
      </p:sp>
      <p:sp>
        <p:nvSpPr>
          <p:cNvPr id="20" name="Date Placeholder 19"/>
          <p:cNvSpPr>
            <a:spLocks noGrp="1"/>
          </p:cNvSpPr>
          <p:nvPr>
            <p:ph type="dt" sz="half" idx="10"/>
          </p:nvPr>
        </p:nvSpPr>
        <p:spPr/>
        <p:txBody>
          <a:bodyPr/>
          <a:lstStyle/>
          <a:p>
            <a:fld id="{333B76B7-5811-4114-8A95-998148FFD529}" type="datetime1">
              <a:rPr lang="en-US" smtClean="0"/>
              <a:pPr/>
              <a:t>4/16/2026</a:t>
            </a:fld>
            <a:endParaRPr lang="en-US" dirty="0"/>
          </a:p>
        </p:txBody>
      </p:sp>
      <p:sp>
        <p:nvSpPr>
          <p:cNvPr id="22" name="Slide Number Placeholder 21"/>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40881699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FC2180A9-7A83-412D-A8AC-5AF60A8AA507}" type="datetime1">
              <a:rPr lang="en-US" smtClean="0"/>
              <a:pPr/>
              <a:t>4/16/2026</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89459114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522413" y="4876800"/>
            <a:ext cx="8229598"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4" name="Date Placeholder 3"/>
          <p:cNvSpPr>
            <a:spLocks noGrp="1"/>
          </p:cNvSpPr>
          <p:nvPr>
            <p:ph type="dt" sz="half" idx="10"/>
          </p:nvPr>
        </p:nvSpPr>
        <p:spPr/>
        <p:txBody>
          <a:bodyPr/>
          <a:lstStyle>
            <a:lvl1pPr>
              <a:defRPr>
                <a:solidFill>
                  <a:schemeClr val="tx1"/>
                </a:solidFill>
              </a:defRPr>
            </a:lvl1pPr>
          </a:lstStyle>
          <a:p>
            <a:fld id="{6A563DF0-FDDF-4143-9D8C-6AF41892E174}" type="datetime1">
              <a:rPr lang="en-US" smtClean="0"/>
              <a:pPr/>
              <a:t>4/16/2026</a:t>
            </a:fld>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34841060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22413" y="1904999"/>
            <a:ext cx="4435564" cy="4088921"/>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30849" y="1904999"/>
            <a:ext cx="4435564" cy="4088921"/>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8BB83F9-4677-4C31-8407-7919061A580B}" type="datetime1">
              <a:rPr lang="en-US" smtClean="0"/>
              <a:pPr/>
              <a:t>4/16/2026</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151225929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828800"/>
            <a:ext cx="4419599" cy="685801"/>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2413" y="2590801"/>
            <a:ext cx="4419599"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6814" y="1828800"/>
            <a:ext cx="4419599" cy="685801"/>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46814" y="2590801"/>
            <a:ext cx="4419599"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C33939A6-3450-434F-A872-BEE63F7EB093}" type="datetime1">
              <a:rPr lang="en-US" smtClean="0"/>
              <a:pPr/>
              <a:t>4/16/2026</a:t>
            </a:fld>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59770049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3BABB1C-FA00-4171-BA31-4C5E719472F3}" type="datetime1">
              <a:rPr lang="en-US" smtClean="0"/>
              <a:pPr/>
              <a:t>4/16/2026</a:t>
            </a:fld>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98131635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6" name="bottom graphic"/>
          <p:cNvGrpSpPr/>
          <p:nvPr userDrawn="1"/>
        </p:nvGrpSpPr>
        <p:grpSpPr>
          <a:xfrm>
            <a:off x="0" y="6309360"/>
            <a:ext cx="12190231" cy="548640"/>
            <a:chOff x="0" y="6309360"/>
            <a:chExt cx="12190231" cy="548640"/>
          </a:xfrm>
        </p:grpSpPr>
        <p:sp>
          <p:nvSpPr>
            <p:cNvPr id="7" name="Rectangle 6"/>
            <p:cNvSpPr/>
            <p:nvPr/>
          </p:nvSpPr>
          <p:spPr>
            <a:xfrm>
              <a:off x="0" y="6400800"/>
              <a:ext cx="12188825" cy="4572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8" name="Rectangle 7"/>
            <p:cNvSpPr/>
            <p:nvPr/>
          </p:nvSpPr>
          <p:spPr>
            <a:xfrm>
              <a:off x="1279" y="63093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6379143"/>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D76C8610-5B57-4C6B-BF9F-F5397A1F60B8}"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40300353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ame"/>
          <p:cNvSpPr/>
          <p:nvPr/>
        </p:nvSpPr>
        <p:spPr>
          <a:xfrm>
            <a:off x="1217610" y="1019175"/>
            <a:ext cx="6126480"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7923214" y="1371600"/>
            <a:ext cx="3124200" cy="2057400"/>
          </a:xfrm>
        </p:spPr>
        <p:txBody>
          <a:bodyPr anchor="b">
            <a:normAutofit/>
          </a:bodyPr>
          <a:lstStyle>
            <a:lvl1pPr algn="l">
              <a:defRPr sz="3200" b="1"/>
            </a:lvl1pPr>
          </a:lstStyle>
          <a:p>
            <a:r>
              <a:rPr lang="en-US"/>
              <a:t>Click to edit Master title style</a:t>
            </a:r>
            <a:endParaRPr/>
          </a:p>
        </p:txBody>
      </p:sp>
      <p:sp>
        <p:nvSpPr>
          <p:cNvPr id="3" name="Content Placeholder 2"/>
          <p:cNvSpPr>
            <a:spLocks noGrp="1"/>
          </p:cNvSpPr>
          <p:nvPr>
            <p:ph idx="1"/>
          </p:nvPr>
        </p:nvSpPr>
        <p:spPr>
          <a:xfrm>
            <a:off x="1491930" y="1293495"/>
            <a:ext cx="5577840" cy="402336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923214" y="3536829"/>
            <a:ext cx="3124200" cy="1797169"/>
          </a:xfrm>
        </p:spPr>
        <p:txBody>
          <a:bodyPr>
            <a:normAutofit/>
          </a:bodyPr>
          <a:lstStyle>
            <a:lvl1pPr marL="0" indent="0">
              <a:spcBef>
                <a:spcPts val="8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BADBF3DD-8B6D-46AA-BCA9-242D4EF63DDF}" type="datetime1">
              <a:rPr lang="en-US" smtClean="0"/>
              <a:pPr/>
              <a:t>4/16/2026</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361613214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frame"/>
          <p:cNvSpPr/>
          <p:nvPr/>
        </p:nvSpPr>
        <p:spPr>
          <a:xfrm>
            <a:off x="1217610" y="1019175"/>
            <a:ext cx="6126480"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7923214" y="1371600"/>
            <a:ext cx="3124200" cy="2057400"/>
          </a:xfrm>
        </p:spPr>
        <p:txBody>
          <a:bodyPr anchor="b">
            <a:norm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400490" y="1202055"/>
            <a:ext cx="5760720" cy="4206240"/>
          </a:xfrm>
          <a:solidFill>
            <a:schemeClr val="bg1">
              <a:lumMod val="95000"/>
            </a:schemeClr>
          </a:solidFill>
        </p:spPr>
        <p:txBody>
          <a:bodyPr tIns="914400">
            <a:normAutofit/>
          </a:bodyPr>
          <a:lstStyle>
            <a:lvl1pPr marL="0" indent="0" algn="ctr">
              <a:spcBef>
                <a:spcPts val="0"/>
              </a:spcBef>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923214" y="3536829"/>
            <a:ext cx="3124200" cy="1797171"/>
          </a:xfrm>
        </p:spPr>
        <p:txBody>
          <a:bodyPr>
            <a:normAutofit/>
          </a:bodyPr>
          <a:lstStyle>
            <a:lvl1pPr marL="0" indent="0">
              <a:spcBef>
                <a:spcPts val="8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23C41AE9-3D4A-4A08-B03D-DC6D2ADF5464}" type="datetime1">
              <a:rPr lang="en-US" smtClean="0"/>
              <a:pPr/>
              <a:t>4/16/2026</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193186272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175C077A-EF7A-41AA-8976-110EB7416C60}" type="datetime1">
              <a:rPr lang="en-US" smtClean="0"/>
              <a:pPr/>
              <a:t>4/16/2026</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222379052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94507" y="609600"/>
            <a:ext cx="1143001" cy="54102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3" y="609600"/>
            <a:ext cx="7696198" cy="5410200"/>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CFF5912B-6681-4BDF-AE10-F59636249FF3}" type="datetime1">
              <a:rPr lang="en-US" smtClean="0"/>
              <a:pPr/>
              <a:t>4/16/2026</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265341935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05C8E22-D0BA-4CB4-9C32-B27533199514}" type="datetime1">
              <a:rPr lang="en-US" smtClean="0"/>
              <a:pPr/>
              <a:t>4/16/2026</a:t>
            </a:fld>
            <a:endParaRPr dirty="0"/>
          </a:p>
        </p:txBody>
      </p:sp>
      <p:sp>
        <p:nvSpPr>
          <p:cNvPr id="6" name="Slide Number Placeholder 5"/>
          <p:cNvSpPr>
            <a:spLocks noGrp="1"/>
          </p:cNvSpPr>
          <p:nvPr>
            <p:ph type="sldNum" sz="quarter" idx="12"/>
          </p:nvPr>
        </p:nvSpPr>
        <p:spPr/>
        <p:txBody>
          <a:bodyPr/>
          <a:lstStyle/>
          <a:p>
            <a:fld id="{DF28FB93-0A08-4E7D-8E63-9EFA29F1E093}" type="slidenum">
              <a:rPr/>
              <a:pPr/>
              <a:t>‹#›</a:t>
            </a:fld>
            <a:endParaRPr dirty="0"/>
          </a:p>
        </p:txBody>
      </p:sp>
    </p:spTree>
    <p:extLst>
      <p:ext uri="{BB962C8B-B14F-4D97-AF65-F5344CB8AC3E}">
        <p14:creationId xmlns:p14="http://schemas.microsoft.com/office/powerpoint/2010/main" xmlns="" val="50647579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bottom graphic"/>
          <p:cNvGrpSpPr/>
          <p:nvPr/>
        </p:nvGrpSpPr>
        <p:grpSpPr>
          <a:xfrm>
            <a:off x="0" y="6309360"/>
            <a:ext cx="12190231" cy="548640"/>
            <a:chOff x="0" y="6309360"/>
            <a:chExt cx="12190231" cy="548640"/>
          </a:xfrm>
        </p:grpSpPr>
        <p:sp>
          <p:nvSpPr>
            <p:cNvPr id="7" name="Rectangle 6"/>
            <p:cNvSpPr/>
            <p:nvPr/>
          </p:nvSpPr>
          <p:spPr>
            <a:xfrm>
              <a:off x="0" y="6400800"/>
              <a:ext cx="12188825" cy="4572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8" name="Rectangle 7"/>
            <p:cNvSpPr/>
            <p:nvPr/>
          </p:nvSpPr>
          <p:spPr>
            <a:xfrm>
              <a:off x="1279" y="63093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6379143"/>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grpSp>
        <p:nvGrpSpPr>
          <p:cNvPr id="10" name="top graphic"/>
          <p:cNvGrpSpPr/>
          <p:nvPr/>
        </p:nvGrpSpPr>
        <p:grpSpPr>
          <a:xfrm>
            <a:off x="1279" y="0"/>
            <a:ext cx="12188952" cy="320040"/>
            <a:chOff x="1279" y="0"/>
            <a:chExt cx="12188952" cy="320040"/>
          </a:xfrm>
        </p:grpSpPr>
        <p:sp>
          <p:nvSpPr>
            <p:cNvPr id="11" name="Rectangle 10"/>
            <p:cNvSpPr/>
            <p:nvPr/>
          </p:nvSpPr>
          <p:spPr>
            <a:xfrm>
              <a:off x="1279" y="0"/>
              <a:ext cx="12188952" cy="1702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1279" y="170234"/>
              <a:ext cx="12188952" cy="1498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3" name="Rectangle 12"/>
            <p:cNvSpPr/>
            <p:nvPr/>
          </p:nvSpPr>
          <p:spPr>
            <a:xfrm>
              <a:off x="1279" y="231421"/>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1522876" y="609600"/>
            <a:ext cx="9143538" cy="10668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876" y="1905000"/>
            <a:ext cx="9143538" cy="369746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bwMode="auto">
          <a:xfrm>
            <a:off x="1507498" y="6516865"/>
            <a:ext cx="6062145" cy="228600"/>
          </a:xfrm>
          <a:prstGeom prst="rect">
            <a:avLst/>
          </a:prstGeom>
        </p:spPr>
        <p:txBody>
          <a:bodyPr vert="horz" lIns="91440" tIns="45720" rIns="91440" bIns="45720" rtlCol="0" anchor="ctr"/>
          <a:lstStyle>
            <a:lvl1pPr algn="l">
              <a:defRPr sz="1100" cap="all" baseline="0">
                <a:solidFill>
                  <a:schemeClr val="bg1"/>
                </a:solidFill>
              </a:defRPr>
            </a:lvl1pPr>
          </a:lstStyle>
          <a:p>
            <a:r>
              <a:rPr lang="en-US" dirty="0"/>
              <a:t>Add a footer</a:t>
            </a:r>
          </a:p>
        </p:txBody>
      </p:sp>
      <p:sp>
        <p:nvSpPr>
          <p:cNvPr id="4" name="Date Placeholder 3"/>
          <p:cNvSpPr>
            <a:spLocks noGrp="1"/>
          </p:cNvSpPr>
          <p:nvPr>
            <p:ph type="dt" sz="half" idx="2"/>
          </p:nvPr>
        </p:nvSpPr>
        <p:spPr bwMode="auto">
          <a:xfrm>
            <a:off x="7994363" y="6516865"/>
            <a:ext cx="1327622" cy="228600"/>
          </a:xfrm>
          <a:prstGeom prst="rect">
            <a:avLst/>
          </a:prstGeom>
        </p:spPr>
        <p:txBody>
          <a:bodyPr vert="horz" lIns="91440" tIns="45720" rIns="91440" bIns="45720" rtlCol="0" anchor="ctr"/>
          <a:lstStyle>
            <a:lvl1pPr algn="r">
              <a:defRPr sz="1100">
                <a:solidFill>
                  <a:schemeClr val="bg1"/>
                </a:solidFill>
              </a:defRPr>
            </a:lvl1pPr>
          </a:lstStyle>
          <a:p>
            <a:fld id="{5C6E67D0-0200-42BE-A0B2-78C70FBBB312}" type="datetime1">
              <a:rPr lang="en-US" smtClean="0"/>
              <a:pPr/>
              <a:t>4/16/2026</a:t>
            </a:fld>
            <a:endParaRPr lang="en-US" dirty="0"/>
          </a:p>
        </p:txBody>
      </p:sp>
      <p:sp>
        <p:nvSpPr>
          <p:cNvPr id="6" name="Slide Number Placeholder 5"/>
          <p:cNvSpPr>
            <a:spLocks noGrp="1"/>
          </p:cNvSpPr>
          <p:nvPr>
            <p:ph type="sldNum" sz="quarter" idx="4"/>
          </p:nvPr>
        </p:nvSpPr>
        <p:spPr bwMode="auto">
          <a:xfrm>
            <a:off x="9730094" y="6516865"/>
            <a:ext cx="936319" cy="228600"/>
          </a:xfrm>
          <a:prstGeom prst="rect">
            <a:avLst/>
          </a:prstGeom>
        </p:spPr>
        <p:txBody>
          <a:bodyPr vert="horz" lIns="91440" tIns="45720" rIns="91440" bIns="45720" rtlCol="0" anchor="ctr"/>
          <a:lstStyle>
            <a:lvl1pPr algn="r">
              <a:defRPr sz="1100">
                <a:solidFill>
                  <a:schemeClr val="bg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xmlns="" val="3310681898"/>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14" r:id="rId12"/>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3200" kern="1200">
          <a:solidFill>
            <a:schemeClr val="accent1">
              <a:lumMod val="50000"/>
            </a:schemeClr>
          </a:solidFill>
          <a:latin typeface="+mj-lt"/>
          <a:ea typeface="+mj-ea"/>
          <a:cs typeface="+mj-cs"/>
        </a:defRPr>
      </a:lvl1pPr>
    </p:titleStyle>
    <p:bodyStyle>
      <a:lvl1pPr marL="274320" indent="-274320" algn="l" defTabSz="914400" rtl="0" eaLnBrk="1" latinLnBrk="0" hangingPunct="1">
        <a:lnSpc>
          <a:spcPct val="90000"/>
        </a:lnSpc>
        <a:spcBef>
          <a:spcPts val="1800"/>
        </a:spcBef>
        <a:buClr>
          <a:schemeClr val="tx1"/>
        </a:buClr>
        <a:buSzPct val="80000"/>
        <a:buFont typeface="Wingdings"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90000"/>
        </a:lnSpc>
        <a:spcBef>
          <a:spcPts val="1000"/>
        </a:spcBef>
        <a:buClr>
          <a:schemeClr val="tx1"/>
        </a:buClr>
        <a:buSzPct val="100000"/>
        <a:buFont typeface="Arial" pitchFamily="34" charset="0"/>
        <a:buChar char="–"/>
        <a:defRPr sz="2000" kern="1200">
          <a:solidFill>
            <a:schemeClr val="tx1"/>
          </a:solidFill>
          <a:latin typeface="+mn-lt"/>
          <a:ea typeface="+mn-ea"/>
          <a:cs typeface="+mn-cs"/>
        </a:defRPr>
      </a:lvl2pPr>
      <a:lvl3pPr marL="822960" indent="-228600" algn="l" defTabSz="914400" rtl="0" eaLnBrk="1" latinLnBrk="0" hangingPunct="1">
        <a:lnSpc>
          <a:spcPct val="90000"/>
        </a:lnSpc>
        <a:spcBef>
          <a:spcPts val="800"/>
        </a:spcBef>
        <a:buClr>
          <a:schemeClr val="tx1"/>
        </a:buClr>
        <a:buSzPct val="80000"/>
        <a:buFont typeface="Wingdings" pitchFamily="2" charset="2"/>
        <a:buChar char="§"/>
        <a:defRPr sz="1800" kern="1200">
          <a:solidFill>
            <a:schemeClr val="tx1"/>
          </a:solidFill>
          <a:latin typeface="+mn-lt"/>
          <a:ea typeface="+mn-ea"/>
          <a:cs typeface="+mn-cs"/>
        </a:defRPr>
      </a:lvl3pPr>
      <a:lvl4pPr marL="10972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uasbangalore.edu.in/recruitment-assistan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1884" y="2059631"/>
            <a:ext cx="5688632" cy="1872208"/>
          </a:xfrm>
        </p:spPr>
        <p:txBody>
          <a:bodyPr>
            <a:noAutofit/>
          </a:bodyPr>
          <a:lstStyle/>
          <a:p>
            <a:pPr algn="ctr"/>
            <a:r>
              <a:rPr lang="en-US" sz="3600" b="1" dirty="0"/>
              <a:t>TOMATO PRICE FORECASTING USING MACHINE LEARNING MODELS</a:t>
            </a:r>
          </a:p>
        </p:txBody>
      </p:sp>
      <p:sp>
        <p:nvSpPr>
          <p:cNvPr id="3" name="Content Placeholder 2"/>
          <p:cNvSpPr>
            <a:spLocks noGrp="1"/>
          </p:cNvSpPr>
          <p:nvPr>
            <p:ph type="subTitle" idx="1"/>
          </p:nvPr>
        </p:nvSpPr>
        <p:spPr>
          <a:xfrm>
            <a:off x="1522413" y="4869160"/>
            <a:ext cx="8229598" cy="998240"/>
          </a:xfrm>
        </p:spPr>
        <p:txBody>
          <a:bodyPr>
            <a:normAutofit fontScale="92500"/>
          </a:bodyPr>
          <a:lstStyle/>
          <a:p>
            <a:r>
              <a:rPr lang="en-US" dirty="0"/>
              <a:t>Tomato Price Prediction | Group 12|Rakshitha R  AMB2206</a:t>
            </a:r>
          </a:p>
          <a:p>
            <a:r>
              <a:rPr lang="en-US" dirty="0"/>
              <a:t>				        Nanditha V  AMB2149</a:t>
            </a:r>
          </a:p>
          <a:p>
            <a:r>
              <a:rPr lang="en-US" dirty="0"/>
              <a:t>				        Purushotham G S AMB2190	</a:t>
            </a:r>
          </a:p>
          <a:p>
            <a:endParaRPr lang="en-US" dirty="0"/>
          </a:p>
        </p:txBody>
      </p:sp>
      <p:pic>
        <p:nvPicPr>
          <p:cNvPr id="8" name="Picture 7">
            <a:extLst>
              <a:ext uri="{FF2B5EF4-FFF2-40B4-BE49-F238E27FC236}">
                <a16:creationId xmlns:a16="http://schemas.microsoft.com/office/drawing/2014/main" xmlns="" id="{D0C7D3C7-123F-4CEF-AC63-0D925F068732}"/>
              </a:ext>
            </a:extLst>
          </p:cNvPr>
          <p:cNvPicPr>
            <a:picLocks noChangeAspect="1"/>
          </p:cNvPicPr>
          <p:nvPr/>
        </p:nvPicPr>
        <p:blipFill>
          <a:blip r:embed="rId3">
            <a:extLst>
              <a:ext uri="{837473B0-CC2E-450A-ABE3-18F120FF3D39}">
                <a1611:picAttrSrcUrl xmlns:a1611="http://schemas.microsoft.com/office/drawing/2016/11/main" xmlns="" r:id="rId4"/>
              </a:ext>
            </a:extLst>
          </a:blip>
          <a:stretch>
            <a:fillRect/>
          </a:stretch>
        </p:blipFill>
        <p:spPr>
          <a:xfrm>
            <a:off x="8758708" y="1700808"/>
            <a:ext cx="3096344" cy="2880320"/>
          </a:xfrm>
          <a:prstGeom prst="rect">
            <a:avLst/>
          </a:prstGeom>
        </p:spPr>
      </p:pic>
    </p:spTree>
    <p:extLst>
      <p:ext uri="{BB962C8B-B14F-4D97-AF65-F5344CB8AC3E}">
        <p14:creationId xmlns:p14="http://schemas.microsoft.com/office/powerpoint/2010/main" xmlns="" val="295718958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2314" y="357166"/>
            <a:ext cx="9143538" cy="759555"/>
          </a:xfrm>
        </p:spPr>
        <p:txBody>
          <a:bodyPr>
            <a:normAutofit/>
          </a:bodyPr>
          <a:lstStyle/>
          <a:p>
            <a:r>
              <a:rPr lang="en-US" sz="4000" b="1" dirty="0"/>
              <a:t>CONTENT</a:t>
            </a:r>
          </a:p>
        </p:txBody>
      </p:sp>
      <p:sp>
        <p:nvSpPr>
          <p:cNvPr id="3" name="Content Placeholder 2"/>
          <p:cNvSpPr>
            <a:spLocks noGrp="1"/>
          </p:cNvSpPr>
          <p:nvPr>
            <p:ph idx="1"/>
          </p:nvPr>
        </p:nvSpPr>
        <p:spPr>
          <a:xfrm>
            <a:off x="879438" y="1142984"/>
            <a:ext cx="5572164" cy="5072098"/>
          </a:xfrm>
        </p:spPr>
        <p:txBody>
          <a:bodyPr>
            <a:normAutofit fontScale="25000" lnSpcReduction="20000"/>
          </a:bodyPr>
          <a:lstStyle/>
          <a:p>
            <a:r>
              <a:rPr lang="en-US" sz="9600" dirty="0"/>
              <a:t>Introduction </a:t>
            </a:r>
          </a:p>
          <a:p>
            <a:r>
              <a:rPr lang="en-US" sz="9600" dirty="0"/>
              <a:t>Problem Statement </a:t>
            </a:r>
          </a:p>
          <a:p>
            <a:r>
              <a:rPr lang="en-US" sz="9600" dirty="0"/>
              <a:t>Motivation </a:t>
            </a:r>
          </a:p>
          <a:p>
            <a:r>
              <a:rPr lang="en-US" sz="9600" dirty="0"/>
              <a:t>Objectives </a:t>
            </a:r>
            <a:endParaRPr lang="en-US" sz="9600" dirty="0" smtClean="0"/>
          </a:p>
          <a:p>
            <a:r>
              <a:rPr lang="en-US" sz="9600" dirty="0" smtClean="0"/>
              <a:t>Review of Literature</a:t>
            </a:r>
            <a:endParaRPr lang="en-US" sz="9600" dirty="0"/>
          </a:p>
          <a:p>
            <a:r>
              <a:rPr lang="en-US" sz="9600" dirty="0"/>
              <a:t>Data overview </a:t>
            </a:r>
          </a:p>
          <a:p>
            <a:r>
              <a:rPr lang="en-US" sz="9600" dirty="0"/>
              <a:t>Methodology </a:t>
            </a:r>
          </a:p>
          <a:p>
            <a:r>
              <a:rPr lang="en-US" sz="9600" dirty="0"/>
              <a:t>Model Evaluation Metrics</a:t>
            </a:r>
          </a:p>
          <a:p>
            <a:r>
              <a:rPr lang="en-US" sz="9600" dirty="0"/>
              <a:t>Tools and Technologies used</a:t>
            </a:r>
          </a:p>
          <a:p>
            <a:r>
              <a:rPr lang="en-US" sz="9600" dirty="0"/>
              <a:t>Result </a:t>
            </a:r>
          </a:p>
          <a:p>
            <a:r>
              <a:rPr lang="en-US" sz="9600" dirty="0"/>
              <a:t>Conclusion </a:t>
            </a:r>
          </a:p>
          <a:p>
            <a:endParaRPr lang="en-US" dirty="0"/>
          </a:p>
          <a:p>
            <a:endParaRPr lang="en-US" dirty="0"/>
          </a:p>
        </p:txBody>
      </p:sp>
      <p:pic>
        <p:nvPicPr>
          <p:cNvPr id="4" name="Picture 3">
            <a:extLst>
              <a:ext uri="{FF2B5EF4-FFF2-40B4-BE49-F238E27FC236}">
                <a16:creationId xmlns:a16="http://schemas.microsoft.com/office/drawing/2014/main" xmlns="" id="{BC9E26C4-EE1E-D1FC-C815-FF3A82373FC5}"/>
              </a:ext>
            </a:extLst>
          </p:cNvPr>
          <p:cNvPicPr>
            <a:picLocks noChangeAspect="1"/>
          </p:cNvPicPr>
          <p:nvPr/>
        </p:nvPicPr>
        <p:blipFill>
          <a:blip r:embed="rId3"/>
          <a:stretch>
            <a:fillRect/>
          </a:stretch>
        </p:blipFill>
        <p:spPr>
          <a:xfrm>
            <a:off x="6451602" y="785794"/>
            <a:ext cx="5207387" cy="53251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xmlns="" val="314811008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79504" y="571480"/>
            <a:ext cx="9143538" cy="1066800"/>
          </a:xfrm>
        </p:spPr>
        <p:txBody>
          <a:bodyPr>
            <a:normAutofit/>
          </a:bodyPr>
          <a:lstStyle/>
          <a:p>
            <a:r>
              <a:rPr lang="en-US" sz="3600" b="1" dirty="0"/>
              <a:t>INTODUCTION</a:t>
            </a:r>
          </a:p>
        </p:txBody>
      </p:sp>
      <p:sp>
        <p:nvSpPr>
          <p:cNvPr id="2" name="Content Placeholder 1"/>
          <p:cNvSpPr>
            <a:spLocks noGrp="1"/>
          </p:cNvSpPr>
          <p:nvPr>
            <p:ph idx="1"/>
          </p:nvPr>
        </p:nvSpPr>
        <p:spPr>
          <a:xfrm>
            <a:off x="1165190" y="1857364"/>
            <a:ext cx="9143538" cy="3697465"/>
          </a:xfrm>
        </p:spPr>
        <p:txBody>
          <a:bodyPr/>
          <a:lstStyle/>
          <a:p>
            <a:r>
              <a:rPr lang="en-US" dirty="0"/>
              <a:t>Agriculture is a crucial sector in India, contributing significantly to the economy and livelihood of millions of farmers. Tomato is one of the most widely cultivated and consumed vegetables, but its market price is highly volatile. Tomato price fluctuation is one of the major challenges faced by farmers in India. Due to the lack of predictive insights, farmers often suffer losses despite good production. In this project, we use machine learning techniques to analyze historical market data and build a predictive model that helps forecast tomato prices, enabling better decision-making and reducing uncertainty.”</a:t>
            </a:r>
          </a:p>
          <a:p>
            <a:endParaRPr lang="en-US" dirty="0"/>
          </a:p>
        </p:txBody>
      </p:sp>
    </p:spTree>
    <p:extLst>
      <p:ext uri="{BB962C8B-B14F-4D97-AF65-F5344CB8AC3E}">
        <p14:creationId xmlns:p14="http://schemas.microsoft.com/office/powerpoint/2010/main" xmlns="" val="115296601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8000" y="571480"/>
            <a:ext cx="9143538" cy="1066800"/>
          </a:xfrm>
        </p:spPr>
        <p:txBody>
          <a:bodyPr>
            <a:normAutofit/>
          </a:bodyPr>
          <a:lstStyle/>
          <a:p>
            <a:r>
              <a:rPr lang="en-US" sz="3600" b="1" dirty="0"/>
              <a:t>PROBLEM STATEMENT</a:t>
            </a:r>
          </a:p>
        </p:txBody>
      </p:sp>
      <p:sp>
        <p:nvSpPr>
          <p:cNvPr id="2" name="Content Placeholder 1"/>
          <p:cNvSpPr>
            <a:spLocks noGrp="1"/>
          </p:cNvSpPr>
          <p:nvPr>
            <p:ph idx="1"/>
          </p:nvPr>
        </p:nvSpPr>
        <p:spPr>
          <a:xfrm>
            <a:off x="736562" y="1857364"/>
            <a:ext cx="6370506" cy="3697465"/>
          </a:xfrm>
        </p:spPr>
        <p:txBody>
          <a:bodyPr>
            <a:normAutofit fontScale="92500" lnSpcReduction="20000"/>
          </a:bodyPr>
          <a:lstStyle/>
          <a:p>
            <a:r>
              <a:rPr lang="en-US" dirty="0"/>
              <a:t>Tomato prices are highly volatile and unpredictable, causing financial uncertainty for farmers. Farmers often lack data-driven tools to decide the right time to sell their produce.</a:t>
            </a:r>
          </a:p>
          <a:p>
            <a:r>
              <a:rPr lang="en-US" dirty="0"/>
              <a:t>Price fluctuations are influenced by factors like seasonality, supply-demand imbalance, and market conditions.</a:t>
            </a:r>
          </a:p>
          <a:p>
            <a:r>
              <a:rPr lang="en-US" dirty="0"/>
              <a:t>Traditional methods rely on guesswork, leading to losses even after good yield.</a:t>
            </a:r>
          </a:p>
          <a:p>
            <a:r>
              <a:rPr lang="en-US" dirty="0"/>
              <a:t>There is a need for an accurate and reliable prediction system to forecast tomato prices in advance.</a:t>
            </a:r>
          </a:p>
          <a:p>
            <a:endParaRPr lang="en-US" dirty="0"/>
          </a:p>
        </p:txBody>
      </p:sp>
      <p:pic>
        <p:nvPicPr>
          <p:cNvPr id="4" name="Picture 3">
            <a:extLst>
              <a:ext uri="{FF2B5EF4-FFF2-40B4-BE49-F238E27FC236}">
                <a16:creationId xmlns:a16="http://schemas.microsoft.com/office/drawing/2014/main" xmlns="" id="{E0E427AC-C78A-45A2-DD6F-8A553A0EE04F}"/>
              </a:ext>
            </a:extLst>
          </p:cNvPr>
          <p:cNvPicPr>
            <a:picLocks noChangeAspect="1"/>
          </p:cNvPicPr>
          <p:nvPr/>
        </p:nvPicPr>
        <p:blipFill>
          <a:blip r:embed="rId3"/>
          <a:stretch>
            <a:fillRect/>
          </a:stretch>
        </p:blipFill>
        <p:spPr>
          <a:xfrm>
            <a:off x="7594610" y="1071546"/>
            <a:ext cx="4429156" cy="4986182"/>
          </a:xfrm>
          <a:prstGeom prst="rect">
            <a:avLst/>
          </a:prstGeom>
        </p:spPr>
      </p:pic>
    </p:spTree>
    <p:extLst>
      <p:ext uri="{BB962C8B-B14F-4D97-AF65-F5344CB8AC3E}">
        <p14:creationId xmlns:p14="http://schemas.microsoft.com/office/powerpoint/2010/main" xmlns="" val="12558687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93752" y="642918"/>
            <a:ext cx="9143538" cy="1066800"/>
          </a:xfrm>
        </p:spPr>
        <p:txBody>
          <a:bodyPr>
            <a:normAutofit/>
          </a:bodyPr>
          <a:lstStyle/>
          <a:p>
            <a:r>
              <a:rPr lang="en-US" sz="3600" b="1" dirty="0"/>
              <a:t>MOTIVATION</a:t>
            </a:r>
          </a:p>
        </p:txBody>
      </p:sp>
      <p:sp>
        <p:nvSpPr>
          <p:cNvPr id="2" name="Content Placeholder 1"/>
          <p:cNvSpPr>
            <a:spLocks noGrp="1"/>
          </p:cNvSpPr>
          <p:nvPr>
            <p:ph idx="1"/>
          </p:nvPr>
        </p:nvSpPr>
        <p:spPr>
          <a:xfrm>
            <a:off x="1093752" y="1928802"/>
            <a:ext cx="9143538" cy="3697465"/>
          </a:xfrm>
        </p:spPr>
        <p:txBody>
          <a:bodyPr/>
          <a:lstStyle/>
          <a:p>
            <a:r>
              <a:rPr lang="en-US" dirty="0"/>
              <a:t>Sudden price drops can cause significant losses to farmers</a:t>
            </a:r>
          </a:p>
          <a:p>
            <a:r>
              <a:rPr lang="en-US" dirty="0"/>
              <a:t>Lack of timely insights leads to poor decision-making in harvesting and selling</a:t>
            </a:r>
          </a:p>
          <a:p>
            <a:r>
              <a:rPr lang="en-US" dirty="0"/>
              <a:t>Middlemen often benefit more due to information asymmetry</a:t>
            </a:r>
          </a:p>
          <a:p>
            <a:r>
              <a:rPr lang="en-US" dirty="0"/>
              <a:t>There is a need for a system that provides reliable and timely price forecasts</a:t>
            </a:r>
          </a:p>
          <a:p>
            <a:r>
              <a:rPr lang="en-US" dirty="0"/>
              <a:t>With the availability of historical data, Machine Learning can uncover hidden patterns in pricing</a:t>
            </a:r>
          </a:p>
          <a:p>
            <a:endParaRPr lang="en-US" dirty="0"/>
          </a:p>
        </p:txBody>
      </p:sp>
    </p:spTree>
    <p:extLst>
      <p:ext uri="{BB962C8B-B14F-4D97-AF65-F5344CB8AC3E}">
        <p14:creationId xmlns:p14="http://schemas.microsoft.com/office/powerpoint/2010/main" xmlns="" val="322424397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50876" y="642918"/>
            <a:ext cx="9143538" cy="659160"/>
          </a:xfrm>
        </p:spPr>
        <p:txBody>
          <a:bodyPr>
            <a:normAutofit/>
          </a:bodyPr>
          <a:lstStyle/>
          <a:p>
            <a:r>
              <a:rPr lang="en-US" sz="3600" b="1" dirty="0"/>
              <a:t>OBJECTIVES</a:t>
            </a:r>
          </a:p>
        </p:txBody>
      </p:sp>
      <p:sp>
        <p:nvSpPr>
          <p:cNvPr id="2" name="Content Placeholder 1"/>
          <p:cNvSpPr>
            <a:spLocks noGrp="1"/>
          </p:cNvSpPr>
          <p:nvPr>
            <p:ph idx="1"/>
          </p:nvPr>
        </p:nvSpPr>
        <p:spPr>
          <a:xfrm>
            <a:off x="801824" y="1556792"/>
            <a:ext cx="10585176" cy="4439884"/>
          </a:xfrm>
        </p:spPr>
        <p:txBody>
          <a:bodyPr>
            <a:normAutofit fontScale="92500" lnSpcReduction="20000"/>
          </a:bodyPr>
          <a:lstStyle/>
          <a:p>
            <a:pPr>
              <a:lnSpc>
                <a:spcPct val="110000"/>
              </a:lnSpc>
            </a:pPr>
            <a:r>
              <a:rPr lang="en-US" dirty="0"/>
              <a:t>To develop a machine learning model for predicting tomato </a:t>
            </a:r>
            <a:r>
              <a:rPr lang="en-US" dirty="0" err="1"/>
              <a:t>prices.To</a:t>
            </a:r>
            <a:r>
              <a:rPr lang="en-US" dirty="0"/>
              <a:t> analyze historical agricultural data such as price, quantity, and date</a:t>
            </a:r>
          </a:p>
          <a:p>
            <a:pPr>
              <a:lnSpc>
                <a:spcPct val="110000"/>
              </a:lnSpc>
            </a:pPr>
            <a:r>
              <a:rPr lang="en-US" dirty="0"/>
              <a:t>To perform data preprocessing and feature extraction (year, month, day)</a:t>
            </a:r>
          </a:p>
          <a:p>
            <a:pPr>
              <a:lnSpc>
                <a:spcPct val="110000"/>
              </a:lnSpc>
            </a:pPr>
            <a:r>
              <a:rPr lang="en-US" dirty="0"/>
              <a:t>To implement and compare models like: Linear Regression, Random Forest and Decision Tree</a:t>
            </a:r>
          </a:p>
          <a:p>
            <a:pPr>
              <a:lnSpc>
                <a:spcPct val="110000"/>
              </a:lnSpc>
            </a:pPr>
            <a:r>
              <a:rPr lang="en-US" dirty="0"/>
              <a:t>To identify the most accurate model for price prediction</a:t>
            </a:r>
          </a:p>
          <a:p>
            <a:pPr>
              <a:lnSpc>
                <a:spcPct val="110000"/>
              </a:lnSpc>
            </a:pPr>
            <a:r>
              <a:rPr lang="en-US" dirty="0"/>
              <a:t>To visualize trends using graphs and charts</a:t>
            </a:r>
          </a:p>
          <a:p>
            <a:pPr>
              <a:lnSpc>
                <a:spcPct val="110000"/>
              </a:lnSpc>
            </a:pPr>
            <a:r>
              <a:rPr lang="en-US" dirty="0"/>
              <a:t>To assist farmers and stakeholders in better decision-making</a:t>
            </a:r>
          </a:p>
          <a:p>
            <a:pPr>
              <a:lnSpc>
                <a:spcPct val="110000"/>
              </a:lnSpc>
            </a:pPr>
            <a:r>
              <a:rPr lang="en-US" dirty="0"/>
              <a:t>To evaluate model performance using metrics: MAE, MSE, RMSE &amp; </a:t>
            </a:r>
            <a:r>
              <a:rPr lang="en-US" dirty="0" smtClean="0"/>
              <a:t>R</a:t>
            </a:r>
            <a:r>
              <a:rPr lang="en-US" baseline="30000" dirty="0" smtClean="0"/>
              <a:t>2</a:t>
            </a:r>
            <a:r>
              <a:rPr lang="en-US" dirty="0" smtClean="0"/>
              <a:t> </a:t>
            </a:r>
            <a:r>
              <a:rPr lang="en-US" dirty="0"/>
              <a:t>score</a:t>
            </a:r>
            <a:endParaRPr lang="en-US" strike="sngStrike" dirty="0"/>
          </a:p>
          <a:p>
            <a:pPr>
              <a:lnSpc>
                <a:spcPct val="120000"/>
              </a:lnSpc>
            </a:pPr>
            <a:endParaRPr lang="en-US" dirty="0"/>
          </a:p>
          <a:p>
            <a:endParaRPr lang="en-US" dirty="0"/>
          </a:p>
          <a:p>
            <a:endParaRPr lang="en-US" dirty="0"/>
          </a:p>
        </p:txBody>
      </p:sp>
    </p:spTree>
    <p:extLst>
      <p:ext uri="{BB962C8B-B14F-4D97-AF65-F5344CB8AC3E}">
        <p14:creationId xmlns:p14="http://schemas.microsoft.com/office/powerpoint/2010/main" xmlns="" val="35190107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2314" y="500042"/>
            <a:ext cx="9143538" cy="1066800"/>
          </a:xfrm>
        </p:spPr>
        <p:txBody>
          <a:bodyPr>
            <a:normAutofit/>
          </a:bodyPr>
          <a:lstStyle/>
          <a:p>
            <a:r>
              <a:rPr lang="en-US" sz="4000" b="1" dirty="0" smtClean="0"/>
              <a:t>Review of Literature</a:t>
            </a:r>
            <a:endParaRPr lang="en-US" sz="4000" b="1" dirty="0"/>
          </a:p>
        </p:txBody>
      </p:sp>
      <p:pic>
        <p:nvPicPr>
          <p:cNvPr id="4" name="Content Placeholder 3" descr="WhatsApp Image 2026-04-16 at 9.56.30 AM.jpeg"/>
          <p:cNvPicPr>
            <a:picLocks noGrp="1" noChangeAspect="1"/>
          </p:cNvPicPr>
          <p:nvPr>
            <p:ph idx="1"/>
          </p:nvPr>
        </p:nvPicPr>
        <p:blipFill>
          <a:blip r:embed="rId2"/>
          <a:stretch>
            <a:fillRect/>
          </a:stretch>
        </p:blipFill>
        <p:spPr>
          <a:xfrm>
            <a:off x="950876" y="2071678"/>
            <a:ext cx="10395444" cy="3786214"/>
          </a:xfr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1" dirty="0"/>
              <a:t>DATASET OVERVIEW</a:t>
            </a:r>
          </a:p>
        </p:txBody>
      </p:sp>
      <p:sp>
        <p:nvSpPr>
          <p:cNvPr id="2" name="Content Placeholder 1"/>
          <p:cNvSpPr>
            <a:spLocks noGrp="1"/>
          </p:cNvSpPr>
          <p:nvPr>
            <p:ph idx="1"/>
          </p:nvPr>
        </p:nvSpPr>
        <p:spPr>
          <a:xfrm>
            <a:off x="1522876" y="2060848"/>
            <a:ext cx="9143538" cy="3697465"/>
          </a:xfrm>
        </p:spPr>
        <p:txBody>
          <a:bodyPr>
            <a:normAutofit/>
          </a:bodyPr>
          <a:lstStyle/>
          <a:p>
            <a:r>
              <a:rPr lang="en-US" dirty="0"/>
              <a:t>Dataset obtained from Kaggle</a:t>
            </a:r>
          </a:p>
          <a:p>
            <a:r>
              <a:rPr lang="en-US" dirty="0"/>
              <a:t>Contains historical data related to tomato prices and market </a:t>
            </a:r>
            <a:r>
              <a:rPr lang="en-US" dirty="0" smtClean="0"/>
              <a:t>trends from 1/1/2018  to 14/04/2021</a:t>
            </a:r>
            <a:endParaRPr lang="en-US" dirty="0"/>
          </a:p>
          <a:p>
            <a:r>
              <a:rPr lang="en-US" dirty="0"/>
              <a:t> Dataset used in this project contains </a:t>
            </a:r>
            <a:r>
              <a:rPr lang="en-US" dirty="0" smtClean="0"/>
              <a:t>1201 daily price </a:t>
            </a:r>
            <a:r>
              <a:rPr lang="en-US" dirty="0"/>
              <a:t>records.</a:t>
            </a:r>
          </a:p>
          <a:p>
            <a:pPr marL="0" indent="0">
              <a:buNone/>
            </a:pPr>
            <a:r>
              <a:rPr lang="en-US" dirty="0"/>
              <a:t/>
            </a:r>
            <a:br>
              <a:rPr lang="en-US" dirty="0"/>
            </a:br>
            <a:endParaRPr lang="en-US" dirty="0"/>
          </a:p>
        </p:txBody>
      </p:sp>
    </p:spTree>
    <p:extLst>
      <p:ext uri="{BB962C8B-B14F-4D97-AF65-F5344CB8AC3E}">
        <p14:creationId xmlns:p14="http://schemas.microsoft.com/office/powerpoint/2010/main" xmlns="" val="51538122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5E2E16FB-BC1F-4B60-83A4-F85A47364367}"/>
              </a:ext>
            </a:extLst>
          </p:cNvPr>
          <p:cNvSpPr>
            <a:spLocks noGrp="1"/>
          </p:cNvSpPr>
          <p:nvPr>
            <p:ph type="body" idx="1"/>
          </p:nvPr>
        </p:nvSpPr>
        <p:spPr>
          <a:xfrm>
            <a:off x="1341884" y="1700808"/>
            <a:ext cx="8229598" cy="3456384"/>
          </a:xfrm>
        </p:spPr>
        <p:txBody>
          <a:bodyPr>
            <a:normAutofit/>
          </a:bodyPr>
          <a:lstStyle/>
          <a:p>
            <a:pPr marL="342900" indent="-342900">
              <a:lnSpc>
                <a:spcPct val="150000"/>
              </a:lnSpc>
              <a:buFont typeface="Wingdings" panose="05000000000000000000" pitchFamily="2" charset="2"/>
              <a:buChar char="§"/>
            </a:pPr>
            <a:r>
              <a:rPr lang="en-US" dirty="0"/>
              <a:t>Arrivals - Quantity of tomatoes arriving in the market</a:t>
            </a:r>
          </a:p>
          <a:p>
            <a:pPr marL="342900" indent="-342900">
              <a:lnSpc>
                <a:spcPct val="150000"/>
              </a:lnSpc>
              <a:buFont typeface="Wingdings" panose="05000000000000000000" pitchFamily="2" charset="2"/>
              <a:buChar char="§"/>
            </a:pPr>
            <a:r>
              <a:rPr lang="en-US" dirty="0"/>
              <a:t>Temperature - Daily temperature</a:t>
            </a:r>
          </a:p>
          <a:p>
            <a:pPr marL="342900" indent="-342900">
              <a:lnSpc>
                <a:spcPct val="150000"/>
              </a:lnSpc>
              <a:buFont typeface="Wingdings" panose="05000000000000000000" pitchFamily="2" charset="2"/>
              <a:buChar char="§"/>
            </a:pPr>
            <a:r>
              <a:rPr lang="en-US" dirty="0"/>
              <a:t>Rainfall - Rainfall </a:t>
            </a:r>
            <a:r>
              <a:rPr lang="en-US" dirty="0" smtClean="0"/>
              <a:t>level</a:t>
            </a:r>
          </a:p>
          <a:p>
            <a:pPr marL="342900" indent="-342900">
              <a:lnSpc>
                <a:spcPct val="150000"/>
              </a:lnSpc>
              <a:buFont typeface="Wingdings" panose="05000000000000000000" pitchFamily="2" charset="2"/>
              <a:buChar char="§"/>
            </a:pPr>
            <a:r>
              <a:rPr lang="en-US" smtClean="0"/>
              <a:t>Time data</a:t>
            </a:r>
            <a:endParaRPr lang="en-US" dirty="0"/>
          </a:p>
          <a:p>
            <a:pPr marL="342900" indent="-342900">
              <a:lnSpc>
                <a:spcPct val="150000"/>
              </a:lnSpc>
              <a:buFont typeface="Wingdings" panose="05000000000000000000" pitchFamily="2" charset="2"/>
              <a:buChar char="§"/>
            </a:pPr>
            <a:r>
              <a:rPr lang="en-US" dirty="0" smtClean="0"/>
              <a:t>Price </a:t>
            </a:r>
            <a:r>
              <a:rPr lang="en-US" dirty="0"/>
              <a:t>Target variable (tomato price)</a:t>
            </a:r>
          </a:p>
          <a:p>
            <a:pPr marL="342900" indent="-342900">
              <a:lnSpc>
                <a:spcPct val="150000"/>
              </a:lnSpc>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a:p>
            <a:endParaRPr lang="en-US" dirty="0"/>
          </a:p>
          <a:p>
            <a:endParaRPr lang="en-US" dirty="0"/>
          </a:p>
          <a:p>
            <a:pPr marL="342900" indent="-342900">
              <a:lnSpc>
                <a:spcPct val="150000"/>
              </a:lnSpc>
              <a:buFont typeface="Wingdings" panose="05000000000000000000" pitchFamily="2" charset="2"/>
              <a:buChar char="§"/>
            </a:pPr>
            <a:endParaRPr lang="en-US" dirty="0"/>
          </a:p>
          <a:p>
            <a:endParaRPr lang="en-IN" dirty="0"/>
          </a:p>
        </p:txBody>
      </p:sp>
      <p:sp>
        <p:nvSpPr>
          <p:cNvPr id="4" name="TextBox 3">
            <a:extLst>
              <a:ext uri="{FF2B5EF4-FFF2-40B4-BE49-F238E27FC236}">
                <a16:creationId xmlns:a16="http://schemas.microsoft.com/office/drawing/2014/main" xmlns="" id="{1A5061DE-EAD3-4D77-816E-0352ADDEC79E}"/>
              </a:ext>
            </a:extLst>
          </p:cNvPr>
          <p:cNvSpPr txBox="1"/>
          <p:nvPr/>
        </p:nvSpPr>
        <p:spPr>
          <a:xfrm>
            <a:off x="1773932" y="652479"/>
            <a:ext cx="5328592" cy="646331"/>
          </a:xfrm>
          <a:prstGeom prst="rect">
            <a:avLst/>
          </a:prstGeom>
          <a:noFill/>
          <a:ln>
            <a:solidFill>
              <a:schemeClr val="accent1">
                <a:lumMod val="20000"/>
                <a:lumOff val="80000"/>
              </a:schemeClr>
            </a:solidFill>
          </a:ln>
        </p:spPr>
        <p:txBody>
          <a:bodyPr wrap="square" rtlCol="0" anchor="ctr" anchorCtr="1">
            <a:spAutoFit/>
          </a:bodyPr>
          <a:lstStyle/>
          <a:p>
            <a:r>
              <a:rPr lang="en-US" sz="3600" b="1" dirty="0">
                <a:solidFill>
                  <a:srgbClr val="002060"/>
                </a:solidFill>
              </a:rPr>
              <a:t>DATA FEATURES</a:t>
            </a:r>
            <a:endParaRPr lang="en-IN" sz="3600" b="1" dirty="0">
              <a:solidFill>
                <a:srgbClr val="002060"/>
              </a:solidFill>
            </a:endParaRPr>
          </a:p>
        </p:txBody>
      </p:sp>
    </p:spTree>
    <p:extLst>
      <p:ext uri="{BB962C8B-B14F-4D97-AF65-F5344CB8AC3E}">
        <p14:creationId xmlns:p14="http://schemas.microsoft.com/office/powerpoint/2010/main" xmlns="" val="2227082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9834" y="500042"/>
            <a:ext cx="3347400" cy="533400"/>
          </a:xfrm>
        </p:spPr>
        <p:txBody>
          <a:bodyPr>
            <a:noAutofit/>
          </a:bodyPr>
          <a:lstStyle/>
          <a:p>
            <a:r>
              <a:rPr lang="en-US" sz="3600" b="1" dirty="0"/>
              <a:t>METHODOLOGY</a:t>
            </a:r>
          </a:p>
        </p:txBody>
      </p:sp>
      <p:pic>
        <p:nvPicPr>
          <p:cNvPr id="8" name="Content Placeholder 7">
            <a:extLst>
              <a:ext uri="{FF2B5EF4-FFF2-40B4-BE49-F238E27FC236}">
                <a16:creationId xmlns:a16="http://schemas.microsoft.com/office/drawing/2014/main" xmlns="" id="{C41E4E05-64C0-4A9D-846E-71FC0E54932D}"/>
              </a:ext>
            </a:extLst>
          </p:cNvPr>
          <p:cNvPicPr>
            <a:picLocks noGrp="1" noChangeAspect="1"/>
          </p:cNvPicPr>
          <p:nvPr>
            <p:ph idx="1"/>
          </p:nvPr>
        </p:nvPicPr>
        <p:blipFill>
          <a:blip r:embed="rId3"/>
          <a:stretch>
            <a:fillRect/>
          </a:stretch>
        </p:blipFill>
        <p:spPr>
          <a:xfrm>
            <a:off x="736562" y="3429000"/>
            <a:ext cx="10369152" cy="2770176"/>
          </a:xfrm>
        </p:spPr>
      </p:pic>
      <p:sp>
        <p:nvSpPr>
          <p:cNvPr id="9" name="TextBox 8">
            <a:extLst>
              <a:ext uri="{FF2B5EF4-FFF2-40B4-BE49-F238E27FC236}">
                <a16:creationId xmlns:a16="http://schemas.microsoft.com/office/drawing/2014/main" xmlns="" id="{49186E38-703E-4639-A066-3A66B2E7AF0D}"/>
              </a:ext>
            </a:extLst>
          </p:cNvPr>
          <p:cNvSpPr txBox="1"/>
          <p:nvPr/>
        </p:nvSpPr>
        <p:spPr>
          <a:xfrm>
            <a:off x="2593950" y="1071546"/>
            <a:ext cx="6192688" cy="2215991"/>
          </a:xfrm>
          <a:prstGeom prst="rect">
            <a:avLst/>
          </a:prstGeom>
          <a:noFill/>
          <a:ln>
            <a:solidFill>
              <a:schemeClr val="accent1">
                <a:lumMod val="20000"/>
                <a:lumOff val="80000"/>
              </a:schemeClr>
            </a:solidFill>
          </a:ln>
        </p:spPr>
        <p:txBody>
          <a:bodyPr wrap="square" rtlCol="0" anchor="ctr" anchorCtr="1">
            <a:spAutoFit/>
          </a:bodyPr>
          <a:lstStyle/>
          <a:p>
            <a:pPr marL="285750" indent="-285750">
              <a:buFont typeface="Arial" panose="020B0604020202020204" pitchFamily="34" charset="0"/>
              <a:buChar char="•"/>
            </a:pPr>
            <a:r>
              <a:rPr lang="en-US" sz="2400" dirty="0"/>
              <a:t>Data collection &amp; preprocessing </a:t>
            </a:r>
          </a:p>
          <a:p>
            <a:pPr marL="285750" indent="-285750">
              <a:buFont typeface="Arial" panose="020B0604020202020204" pitchFamily="34" charset="0"/>
              <a:buChar char="•"/>
            </a:pPr>
            <a:r>
              <a:rPr lang="en-US" sz="2400" dirty="0"/>
              <a:t>Apply Linear Regression &amp; Random Forest</a:t>
            </a:r>
          </a:p>
          <a:p>
            <a:pPr marL="285750" indent="-285750">
              <a:buFont typeface="Arial" panose="020B0604020202020204" pitchFamily="34" charset="0"/>
              <a:buChar char="•"/>
            </a:pPr>
            <a:r>
              <a:rPr lang="en-US" sz="2400" dirty="0"/>
              <a:t>Train-test split</a:t>
            </a:r>
          </a:p>
          <a:p>
            <a:pPr marL="285750" indent="-285750">
              <a:buFont typeface="Arial" panose="020B0604020202020204" pitchFamily="34" charset="0"/>
              <a:buChar char="•"/>
            </a:pPr>
            <a:r>
              <a:rPr lang="en-US" sz="2400" dirty="0"/>
              <a:t>Evaluate using RMSE, R²</a:t>
            </a:r>
          </a:p>
          <a:p>
            <a:pPr marL="285750" indent="-285750">
              <a:buFont typeface="Arial" panose="020B0604020202020204" pitchFamily="34" charset="0"/>
              <a:buChar char="•"/>
            </a:pPr>
            <a:r>
              <a:rPr lang="en-US" sz="2400" dirty="0"/>
              <a:t>Predict future prices</a:t>
            </a:r>
          </a:p>
          <a:p>
            <a:endParaRPr lang="en-IN" dirty="0"/>
          </a:p>
        </p:txBody>
      </p:sp>
    </p:spTree>
    <p:extLst>
      <p:ext uri="{BB962C8B-B14F-4D97-AF65-F5344CB8AC3E}">
        <p14:creationId xmlns:p14="http://schemas.microsoft.com/office/powerpoint/2010/main" xmlns="" val="28197484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89FD1D87-7EA2-4BDD-A1FA-C6CA7807CCAA}"/>
              </a:ext>
            </a:extLst>
          </p:cNvPr>
          <p:cNvSpPr>
            <a:spLocks noGrp="1"/>
          </p:cNvSpPr>
          <p:nvPr>
            <p:ph type="body" idx="1"/>
          </p:nvPr>
        </p:nvSpPr>
        <p:spPr>
          <a:xfrm>
            <a:off x="909836" y="836712"/>
            <a:ext cx="10009112" cy="5183088"/>
          </a:xfrm>
        </p:spPr>
        <p:txBody>
          <a:bodyPr/>
          <a:lstStyle/>
          <a:p>
            <a:r>
              <a:rPr lang="en-US" dirty="0"/>
              <a:t>Three machine models were implemented</a:t>
            </a:r>
            <a:r>
              <a:rPr lang="en-IN" dirty="0"/>
              <a:t>:</a:t>
            </a:r>
          </a:p>
          <a:p>
            <a:r>
              <a:rPr lang="en-IN" dirty="0"/>
              <a:t>1.</a:t>
            </a:r>
            <a:r>
              <a:rPr lang="en-IN" b="1" dirty="0"/>
              <a:t>Linear regression</a:t>
            </a:r>
          </a:p>
          <a:p>
            <a:pPr marL="342900" indent="-342900">
              <a:buFont typeface="Arial" panose="020B0604020202020204" pitchFamily="34" charset="0"/>
              <a:buChar char="•"/>
            </a:pPr>
            <a:r>
              <a:rPr lang="en-US" dirty="0"/>
              <a:t> </a:t>
            </a:r>
            <a:r>
              <a:rPr lang="en-IN" dirty="0"/>
              <a:t>Assumes linear relationship between input features and target</a:t>
            </a:r>
          </a:p>
          <a:p>
            <a:pPr marL="342900" indent="-342900">
              <a:buFont typeface="Arial" panose="020B0604020202020204" pitchFamily="34" charset="0"/>
              <a:buChar char="•"/>
            </a:pPr>
            <a:r>
              <a:rPr lang="en-US" dirty="0"/>
              <a:t> </a:t>
            </a:r>
            <a:r>
              <a:rPr lang="en-IN" dirty="0"/>
              <a:t>Simple and fast model</a:t>
            </a:r>
          </a:p>
          <a:p>
            <a:endParaRPr lang="en-US" dirty="0"/>
          </a:p>
          <a:p>
            <a:r>
              <a:rPr lang="en-US" dirty="0"/>
              <a:t>2.</a:t>
            </a:r>
            <a:r>
              <a:rPr lang="en-US" b="1" dirty="0"/>
              <a:t>D</a:t>
            </a:r>
            <a:r>
              <a:rPr lang="en-IN" b="1" dirty="0"/>
              <a:t>ecision Tree</a:t>
            </a:r>
          </a:p>
          <a:p>
            <a:pPr marL="342900" indent="-342900">
              <a:buFont typeface="Arial" panose="020B0604020202020204" pitchFamily="34" charset="0"/>
              <a:buChar char="•"/>
            </a:pPr>
            <a:r>
              <a:rPr lang="en-US" dirty="0"/>
              <a:t> </a:t>
            </a:r>
            <a:r>
              <a:rPr lang="en-IN" dirty="0"/>
              <a:t>Splits data into branches based on feature values</a:t>
            </a:r>
          </a:p>
          <a:p>
            <a:pPr marL="342900" indent="-342900">
              <a:buFont typeface="Arial" panose="020B0604020202020204" pitchFamily="34" charset="0"/>
              <a:buChar char="•"/>
            </a:pPr>
            <a:r>
              <a:rPr lang="en-US" dirty="0"/>
              <a:t> </a:t>
            </a:r>
            <a:r>
              <a:rPr lang="en-IN" dirty="0"/>
              <a:t>Captures non linear relationships</a:t>
            </a:r>
          </a:p>
          <a:p>
            <a:endParaRPr lang="en-US" dirty="0"/>
          </a:p>
          <a:p>
            <a:r>
              <a:rPr lang="en-US" dirty="0"/>
              <a:t>3.</a:t>
            </a:r>
            <a:r>
              <a:rPr lang="en-US" b="1" dirty="0"/>
              <a:t>R</a:t>
            </a:r>
            <a:r>
              <a:rPr lang="en-IN" b="1" dirty="0"/>
              <a:t>andom forest</a:t>
            </a:r>
          </a:p>
          <a:p>
            <a:pPr marL="342900" indent="-342900">
              <a:buFont typeface="Arial" panose="020B0604020202020204" pitchFamily="34" charset="0"/>
              <a:buChar char="•"/>
            </a:pPr>
            <a:r>
              <a:rPr lang="en-US" dirty="0"/>
              <a:t>A</a:t>
            </a:r>
            <a:r>
              <a:rPr lang="en-IN" dirty="0"/>
              <a:t>ssemble of multiple decision trees</a:t>
            </a:r>
          </a:p>
          <a:p>
            <a:pPr marL="342900" indent="-342900">
              <a:buFont typeface="Arial" panose="020B0604020202020204" pitchFamily="34" charset="0"/>
              <a:buChar char="•"/>
            </a:pPr>
            <a:r>
              <a:rPr lang="en-IN" dirty="0"/>
              <a:t>Reduces overfitting</a:t>
            </a:r>
          </a:p>
          <a:p>
            <a:pPr marL="342900" indent="-342900">
              <a:buFont typeface="Arial" panose="020B0604020202020204" pitchFamily="34" charset="0"/>
              <a:buChar char="•"/>
            </a:pPr>
            <a:r>
              <a:rPr lang="en-US" dirty="0"/>
              <a:t>P</a:t>
            </a:r>
            <a:r>
              <a:rPr lang="en-IN" dirty="0"/>
              <a:t>rovides high accuracy</a:t>
            </a:r>
          </a:p>
          <a:p>
            <a:pPr marL="342900" indent="-342900">
              <a:buFont typeface="Arial" panose="020B0604020202020204" pitchFamily="34" charset="0"/>
              <a:buChar char="•"/>
            </a:pPr>
            <a:endParaRPr lang="en-US" dirty="0"/>
          </a:p>
          <a:p>
            <a:endParaRPr lang="en-IN"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p:txBody>
      </p:sp>
    </p:spTree>
    <p:extLst>
      <p:ext uri="{BB962C8B-B14F-4D97-AF65-F5344CB8AC3E}">
        <p14:creationId xmlns:p14="http://schemas.microsoft.com/office/powerpoint/2010/main" xmlns="" val="7264033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3E7D8F-A77A-41FB-8BBB-BBD258FE2C49}"/>
              </a:ext>
            </a:extLst>
          </p:cNvPr>
          <p:cNvSpPr>
            <a:spLocks noGrp="1"/>
          </p:cNvSpPr>
          <p:nvPr>
            <p:ph type="title"/>
          </p:nvPr>
        </p:nvSpPr>
        <p:spPr>
          <a:xfrm>
            <a:off x="950876" y="642918"/>
            <a:ext cx="9143538" cy="659160"/>
          </a:xfrm>
        </p:spPr>
        <p:txBody>
          <a:bodyPr>
            <a:normAutofit/>
          </a:bodyPr>
          <a:lstStyle/>
          <a:p>
            <a:r>
              <a:rPr lang="en-US" sz="3600" b="1" dirty="0"/>
              <a:t>Model Evaluation Metrics</a:t>
            </a:r>
            <a:endParaRPr lang="en-IN" sz="3600" b="1" dirty="0"/>
          </a:p>
        </p:txBody>
      </p:sp>
      <p:sp>
        <p:nvSpPr>
          <p:cNvPr id="3" name="Content Placeholder 2">
            <a:extLst>
              <a:ext uri="{FF2B5EF4-FFF2-40B4-BE49-F238E27FC236}">
                <a16:creationId xmlns:a16="http://schemas.microsoft.com/office/drawing/2014/main" xmlns="" id="{197F70DC-B1FA-4E17-83B2-51095F25A721}"/>
              </a:ext>
            </a:extLst>
          </p:cNvPr>
          <p:cNvSpPr>
            <a:spLocks noGrp="1"/>
          </p:cNvSpPr>
          <p:nvPr>
            <p:ph idx="1"/>
          </p:nvPr>
        </p:nvSpPr>
        <p:spPr>
          <a:xfrm>
            <a:off x="923871" y="1428487"/>
            <a:ext cx="9143538" cy="4752528"/>
          </a:xfrm>
        </p:spPr>
        <p:txBody>
          <a:bodyPr>
            <a:normAutofit/>
          </a:bodyPr>
          <a:lstStyle/>
          <a:p>
            <a:r>
              <a:rPr lang="en-US" dirty="0"/>
              <a:t>The models were evaluated using:</a:t>
            </a:r>
          </a:p>
          <a:p>
            <a:pPr marL="0" indent="0">
              <a:buNone/>
            </a:pPr>
            <a:r>
              <a:rPr lang="en-US" dirty="0"/>
              <a:t>1.</a:t>
            </a:r>
            <a:r>
              <a:rPr lang="en-US" b="1" dirty="0"/>
              <a:t>R2 Score </a:t>
            </a:r>
            <a:r>
              <a:rPr lang="en-US" dirty="0"/>
              <a:t>(Coefficient of Determination)</a:t>
            </a:r>
          </a:p>
          <a:p>
            <a:r>
              <a:rPr lang="en-US" dirty="0"/>
              <a:t>Measures accuracy of prediction</a:t>
            </a:r>
          </a:p>
          <a:p>
            <a:r>
              <a:rPr lang="en-US" dirty="0"/>
              <a:t>O Higher value = better model</a:t>
            </a:r>
          </a:p>
          <a:p>
            <a:pPr marL="0" indent="0">
              <a:buNone/>
            </a:pPr>
            <a:r>
              <a:rPr lang="en-US" dirty="0"/>
              <a:t>2.</a:t>
            </a:r>
            <a:r>
              <a:rPr lang="en-US" b="1" dirty="0"/>
              <a:t>RMSE</a:t>
            </a:r>
            <a:r>
              <a:rPr lang="en-US" dirty="0"/>
              <a:t> (Root Mean Squared Error)</a:t>
            </a:r>
          </a:p>
          <a:p>
            <a:r>
              <a:rPr lang="en-US" dirty="0"/>
              <a:t>Measures prediction error</a:t>
            </a:r>
          </a:p>
          <a:p>
            <a:pPr marL="0" indent="0">
              <a:buNone/>
            </a:pPr>
            <a:r>
              <a:rPr lang="en-US" dirty="0"/>
              <a:t>3. </a:t>
            </a:r>
            <a:r>
              <a:rPr lang="en-US" b="1" dirty="0"/>
              <a:t>MAE</a:t>
            </a:r>
            <a:r>
              <a:rPr lang="en-US" dirty="0"/>
              <a:t>(Mean Absolute Error)</a:t>
            </a:r>
          </a:p>
          <a:p>
            <a:pPr marL="0" indent="0">
              <a:buNone/>
            </a:pPr>
            <a:r>
              <a:rPr lang="en-US" dirty="0"/>
              <a:t>4.</a:t>
            </a:r>
            <a:r>
              <a:rPr lang="en-US" b="1" dirty="0"/>
              <a:t>MSE</a:t>
            </a:r>
            <a:r>
              <a:rPr lang="en-US" dirty="0"/>
              <a:t>(Mean Squared Error)</a:t>
            </a:r>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xmlns="" id="{7EC27E62-583F-42C3-10D5-B36F1C0C8249}"/>
              </a:ext>
            </a:extLst>
          </p:cNvPr>
          <p:cNvPicPr>
            <a:picLocks noChangeAspect="1"/>
          </p:cNvPicPr>
          <p:nvPr/>
        </p:nvPicPr>
        <p:blipFill>
          <a:blip r:embed="rId2"/>
          <a:stretch>
            <a:fillRect/>
          </a:stretch>
        </p:blipFill>
        <p:spPr>
          <a:xfrm>
            <a:off x="6234545" y="1428487"/>
            <a:ext cx="5867808" cy="4429405"/>
          </a:xfrm>
          <a:prstGeom prst="rect">
            <a:avLst/>
          </a:prstGeom>
        </p:spPr>
      </p:pic>
    </p:spTree>
    <p:extLst>
      <p:ext uri="{BB962C8B-B14F-4D97-AF65-F5344CB8AC3E}">
        <p14:creationId xmlns:p14="http://schemas.microsoft.com/office/powerpoint/2010/main" xmlns="" val="8219035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2683" y="246259"/>
            <a:ext cx="9143538" cy="1066800"/>
          </a:xfrm>
        </p:spPr>
        <p:txBody>
          <a:bodyPr>
            <a:normAutofit/>
          </a:bodyPr>
          <a:lstStyle/>
          <a:p>
            <a:r>
              <a:rPr lang="en-US" sz="3600" b="1" dirty="0"/>
              <a:t>TOOLS AND TECHCHNOLOGY</a:t>
            </a:r>
          </a:p>
        </p:txBody>
      </p:sp>
      <p:sp>
        <p:nvSpPr>
          <p:cNvPr id="2" name="Content Placeholder 1"/>
          <p:cNvSpPr>
            <a:spLocks noGrp="1"/>
          </p:cNvSpPr>
          <p:nvPr>
            <p:ph idx="1"/>
          </p:nvPr>
        </p:nvSpPr>
        <p:spPr>
          <a:xfrm>
            <a:off x="593686" y="1571612"/>
            <a:ext cx="5636451" cy="3697465"/>
          </a:xfrm>
        </p:spPr>
        <p:txBody>
          <a:bodyPr>
            <a:normAutofit/>
          </a:bodyPr>
          <a:lstStyle/>
          <a:p>
            <a:pPr marL="0" indent="0">
              <a:buNone/>
            </a:pPr>
            <a:r>
              <a:rPr lang="en-US" dirty="0"/>
              <a:t>*LIBRARIES USED:</a:t>
            </a:r>
          </a:p>
          <a:p>
            <a:pPr>
              <a:buFont typeface="Arial" panose="020B0604020202020204" pitchFamily="34" charset="0"/>
              <a:buChar char="•"/>
            </a:pPr>
            <a:r>
              <a:rPr lang="en-US" dirty="0"/>
              <a:t>Pandas</a:t>
            </a:r>
          </a:p>
          <a:p>
            <a:pPr>
              <a:buFont typeface="Arial" panose="020B0604020202020204" pitchFamily="34" charset="0"/>
              <a:buChar char="•"/>
            </a:pPr>
            <a:r>
              <a:rPr lang="en-US" dirty="0"/>
              <a:t>Numpy</a:t>
            </a:r>
          </a:p>
          <a:p>
            <a:pPr>
              <a:buFont typeface="Arial" panose="020B0604020202020204" pitchFamily="34" charset="0"/>
              <a:buChar char="•"/>
            </a:pPr>
            <a:r>
              <a:rPr lang="en-US" dirty="0"/>
              <a:t>Matplotlib</a:t>
            </a:r>
          </a:p>
          <a:p>
            <a:pPr marL="0" indent="0">
              <a:buNone/>
            </a:pPr>
            <a:r>
              <a:rPr lang="en-US" dirty="0"/>
              <a:t>*DEVELOPMENT ENVIRONMENT : Google Colab</a:t>
            </a:r>
          </a:p>
          <a:p>
            <a:pPr marL="0" indent="0">
              <a:buNone/>
            </a:pPr>
            <a:r>
              <a:rPr lang="en-US" dirty="0"/>
              <a:t>*DATA HANDLING AND STORAGE: csv files</a:t>
            </a:r>
          </a:p>
        </p:txBody>
      </p:sp>
      <p:pic>
        <p:nvPicPr>
          <p:cNvPr id="4" name="Picture 3">
            <a:extLst>
              <a:ext uri="{FF2B5EF4-FFF2-40B4-BE49-F238E27FC236}">
                <a16:creationId xmlns:a16="http://schemas.microsoft.com/office/drawing/2014/main" xmlns="" id="{26E5FEE8-C810-14AA-1F42-98EB455E13D4}"/>
              </a:ext>
            </a:extLst>
          </p:cNvPr>
          <p:cNvPicPr>
            <a:picLocks noChangeAspect="1"/>
          </p:cNvPicPr>
          <p:nvPr/>
        </p:nvPicPr>
        <p:blipFill>
          <a:blip r:embed="rId3"/>
          <a:stretch>
            <a:fillRect/>
          </a:stretch>
        </p:blipFill>
        <p:spPr>
          <a:xfrm>
            <a:off x="6369011" y="831144"/>
            <a:ext cx="5636451" cy="5417256"/>
          </a:xfrm>
          <a:prstGeom prst="rect">
            <a:avLst/>
          </a:prstGeom>
        </p:spPr>
      </p:pic>
      <p:pic>
        <p:nvPicPr>
          <p:cNvPr id="5" name="Picture 4">
            <a:extLst>
              <a:ext uri="{FF2B5EF4-FFF2-40B4-BE49-F238E27FC236}">
                <a16:creationId xmlns:a16="http://schemas.microsoft.com/office/drawing/2014/main" xmlns="" id="{4ADFE159-E6B4-605F-C719-9FACF72EB3A5}"/>
              </a:ext>
            </a:extLst>
          </p:cNvPr>
          <p:cNvPicPr>
            <a:picLocks noChangeAspect="1"/>
          </p:cNvPicPr>
          <p:nvPr/>
        </p:nvPicPr>
        <p:blipFill>
          <a:blip r:embed="rId4"/>
          <a:stretch>
            <a:fillRect/>
          </a:stretch>
        </p:blipFill>
        <p:spPr>
          <a:xfrm>
            <a:off x="7739221" y="1071546"/>
            <a:ext cx="3998793" cy="1428760"/>
          </a:xfrm>
          <a:prstGeom prst="rect">
            <a:avLst/>
          </a:prstGeom>
        </p:spPr>
      </p:pic>
    </p:spTree>
    <p:extLst>
      <p:ext uri="{BB962C8B-B14F-4D97-AF65-F5344CB8AC3E}">
        <p14:creationId xmlns:p14="http://schemas.microsoft.com/office/powerpoint/2010/main" xmlns="" val="258553134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36562" y="609600"/>
            <a:ext cx="9929852" cy="1066800"/>
          </a:xfrm>
        </p:spPr>
        <p:txBody>
          <a:bodyPr>
            <a:normAutofit/>
          </a:bodyPr>
          <a:lstStyle/>
          <a:p>
            <a:r>
              <a:rPr lang="en-US" sz="3600" b="1" dirty="0"/>
              <a:t>RESULT</a:t>
            </a:r>
          </a:p>
        </p:txBody>
      </p:sp>
      <p:graphicFrame>
        <p:nvGraphicFramePr>
          <p:cNvPr id="4" name="Content Placeholder 3">
            <a:extLst>
              <a:ext uri="{FF2B5EF4-FFF2-40B4-BE49-F238E27FC236}">
                <a16:creationId xmlns:a16="http://schemas.microsoft.com/office/drawing/2014/main" xmlns="" id="{393A7C7B-70A2-453A-8A53-BD73D0276F0F}"/>
              </a:ext>
            </a:extLst>
          </p:cNvPr>
          <p:cNvGraphicFramePr>
            <a:graphicFrameLocks noGrp="1"/>
          </p:cNvGraphicFramePr>
          <p:nvPr>
            <p:ph idx="1"/>
            <p:extLst>
              <p:ext uri="{D42A27DB-BD31-4B8C-83A1-F6EECF244321}">
                <p14:modId xmlns:p14="http://schemas.microsoft.com/office/powerpoint/2010/main" xmlns="" val="2728541499"/>
              </p:ext>
            </p:extLst>
          </p:nvPr>
        </p:nvGraphicFramePr>
        <p:xfrm>
          <a:off x="549796" y="2060848"/>
          <a:ext cx="10873210" cy="2654236"/>
        </p:xfrm>
        <a:graphic>
          <a:graphicData uri="http://schemas.openxmlformats.org/drawingml/2006/table">
            <a:tbl>
              <a:tblPr firstRow="1" bandRow="1">
                <a:tableStyleId>{3B4B98B0-60AC-42C2-AFA5-B58CD77FA1E5}</a:tableStyleId>
              </a:tblPr>
              <a:tblGrid>
                <a:gridCol w="2174642">
                  <a:extLst>
                    <a:ext uri="{9D8B030D-6E8A-4147-A177-3AD203B41FA5}">
                      <a16:colId xmlns:a16="http://schemas.microsoft.com/office/drawing/2014/main" xmlns="" val="567840074"/>
                    </a:ext>
                  </a:extLst>
                </a:gridCol>
                <a:gridCol w="2174642">
                  <a:extLst>
                    <a:ext uri="{9D8B030D-6E8A-4147-A177-3AD203B41FA5}">
                      <a16:colId xmlns:a16="http://schemas.microsoft.com/office/drawing/2014/main" xmlns="" val="1489567118"/>
                    </a:ext>
                  </a:extLst>
                </a:gridCol>
                <a:gridCol w="2174642">
                  <a:extLst>
                    <a:ext uri="{9D8B030D-6E8A-4147-A177-3AD203B41FA5}">
                      <a16:colId xmlns:a16="http://schemas.microsoft.com/office/drawing/2014/main" xmlns="" val="3380827441"/>
                    </a:ext>
                  </a:extLst>
                </a:gridCol>
                <a:gridCol w="2174642">
                  <a:extLst>
                    <a:ext uri="{9D8B030D-6E8A-4147-A177-3AD203B41FA5}">
                      <a16:colId xmlns:a16="http://schemas.microsoft.com/office/drawing/2014/main" xmlns="" val="3508631421"/>
                    </a:ext>
                  </a:extLst>
                </a:gridCol>
                <a:gridCol w="2174642">
                  <a:extLst>
                    <a:ext uri="{9D8B030D-6E8A-4147-A177-3AD203B41FA5}">
                      <a16:colId xmlns:a16="http://schemas.microsoft.com/office/drawing/2014/main" xmlns="" val="1484124263"/>
                    </a:ext>
                  </a:extLst>
                </a:gridCol>
              </a:tblGrid>
              <a:tr h="503022">
                <a:tc>
                  <a:txBody>
                    <a:bodyPr/>
                    <a:lstStyle/>
                    <a:p>
                      <a:r>
                        <a:rPr lang="en-US" dirty="0"/>
                        <a:t>MODEL</a:t>
                      </a:r>
                      <a:endParaRPr lang="en-IN" dirty="0"/>
                    </a:p>
                  </a:txBody>
                  <a:tcPr/>
                </a:tc>
                <a:tc>
                  <a:txBody>
                    <a:bodyPr/>
                    <a:lstStyle/>
                    <a:p>
                      <a:r>
                        <a:rPr lang="en-US" dirty="0"/>
                        <a:t>MAE</a:t>
                      </a:r>
                    </a:p>
                  </a:txBody>
                  <a:tcPr/>
                </a:tc>
                <a:tc>
                  <a:txBody>
                    <a:bodyPr/>
                    <a:lstStyle/>
                    <a:p>
                      <a:r>
                        <a:rPr lang="en-US" dirty="0"/>
                        <a:t>MSE</a:t>
                      </a:r>
                      <a:endParaRPr lang="en-IN" dirty="0"/>
                    </a:p>
                  </a:txBody>
                  <a:tcPr/>
                </a:tc>
                <a:tc>
                  <a:txBody>
                    <a:bodyPr/>
                    <a:lstStyle/>
                    <a:p>
                      <a:r>
                        <a:rPr lang="en-US" dirty="0"/>
                        <a:t>RMSE</a:t>
                      </a:r>
                      <a:endParaRPr lang="en-IN" dirty="0"/>
                    </a:p>
                  </a:txBody>
                  <a:tcPr/>
                </a:tc>
                <a:tc>
                  <a:txBody>
                    <a:bodyPr/>
                    <a:lstStyle/>
                    <a:p>
                      <a:r>
                        <a:rPr lang="en-US" dirty="0"/>
                        <a:t>R^</a:t>
                      </a:r>
                      <a:r>
                        <a:rPr lang="en-US" u="none" dirty="0"/>
                        <a:t>2</a:t>
                      </a:r>
                      <a:endParaRPr lang="en-IN" u="none" dirty="0"/>
                    </a:p>
                  </a:txBody>
                  <a:tcPr/>
                </a:tc>
                <a:extLst>
                  <a:ext uri="{0D108BD9-81ED-4DB2-BD59-A6C34878D82A}">
                    <a16:rowId xmlns:a16="http://schemas.microsoft.com/office/drawing/2014/main" xmlns="" val="1853688355"/>
                  </a:ext>
                </a:extLst>
              </a:tr>
              <a:tr h="505090">
                <a:tc>
                  <a:txBody>
                    <a:bodyPr/>
                    <a:lstStyle/>
                    <a:p>
                      <a:r>
                        <a:rPr lang="en-US" dirty="0"/>
                        <a:t>LINEAR REGRESSION</a:t>
                      </a:r>
                      <a:endParaRPr lang="en-IN" dirty="0"/>
                    </a:p>
                  </a:txBody>
                  <a:tcPr/>
                </a:tc>
                <a:tc>
                  <a:txBody>
                    <a:bodyPr/>
                    <a:lstStyle/>
                    <a:p>
                      <a:r>
                        <a:rPr lang="en-US" dirty="0"/>
                        <a:t>34.38</a:t>
                      </a:r>
                      <a:endParaRPr lang="en-IN" dirty="0"/>
                    </a:p>
                  </a:txBody>
                  <a:tcPr/>
                </a:tc>
                <a:tc>
                  <a:txBody>
                    <a:bodyPr/>
                    <a:lstStyle/>
                    <a:p>
                      <a:r>
                        <a:rPr lang="en-US" dirty="0"/>
                        <a:t>1909.27</a:t>
                      </a:r>
                      <a:endParaRPr lang="en-IN" dirty="0"/>
                    </a:p>
                  </a:txBody>
                  <a:tcPr/>
                </a:tc>
                <a:tc>
                  <a:txBody>
                    <a:bodyPr/>
                    <a:lstStyle/>
                    <a:p>
                      <a:r>
                        <a:rPr lang="en-US" dirty="0"/>
                        <a:t>43.71</a:t>
                      </a:r>
                      <a:endParaRPr lang="en-IN" dirty="0"/>
                    </a:p>
                  </a:txBody>
                  <a:tcPr/>
                </a:tc>
                <a:tc>
                  <a:txBody>
                    <a:bodyPr/>
                    <a:lstStyle/>
                    <a:p>
                      <a:r>
                        <a:rPr lang="en-US" dirty="0"/>
                        <a:t>0.7834</a:t>
                      </a:r>
                      <a:endParaRPr lang="en-IN" dirty="0"/>
                    </a:p>
                  </a:txBody>
                  <a:tcPr/>
                </a:tc>
                <a:extLst>
                  <a:ext uri="{0D108BD9-81ED-4DB2-BD59-A6C34878D82A}">
                    <a16:rowId xmlns:a16="http://schemas.microsoft.com/office/drawing/2014/main" xmlns="" val="148149454"/>
                  </a:ext>
                </a:extLst>
              </a:tr>
              <a:tr h="503022">
                <a:tc>
                  <a:txBody>
                    <a:bodyPr/>
                    <a:lstStyle/>
                    <a:p>
                      <a:r>
                        <a:rPr lang="en-US" dirty="0"/>
                        <a:t>DECESION TREE</a:t>
                      </a:r>
                      <a:endParaRPr lang="en-IN" dirty="0"/>
                    </a:p>
                  </a:txBody>
                  <a:tcPr/>
                </a:tc>
                <a:tc>
                  <a:txBody>
                    <a:bodyPr/>
                    <a:lstStyle/>
                    <a:p>
                      <a:r>
                        <a:rPr lang="en-US" dirty="0"/>
                        <a:t>20.54</a:t>
                      </a:r>
                      <a:endParaRPr lang="en-IN" dirty="0"/>
                    </a:p>
                  </a:txBody>
                  <a:tcPr/>
                </a:tc>
                <a:tc>
                  <a:txBody>
                    <a:bodyPr/>
                    <a:lstStyle/>
                    <a:p>
                      <a:r>
                        <a:rPr lang="en-US" dirty="0"/>
                        <a:t>659.00</a:t>
                      </a:r>
                      <a:endParaRPr lang="en-IN" dirty="0"/>
                    </a:p>
                  </a:txBody>
                  <a:tcPr/>
                </a:tc>
                <a:tc>
                  <a:txBody>
                    <a:bodyPr/>
                    <a:lstStyle/>
                    <a:p>
                      <a:r>
                        <a:rPr lang="en-US" dirty="0"/>
                        <a:t>25.67</a:t>
                      </a:r>
                      <a:endParaRPr lang="en-IN" dirty="0"/>
                    </a:p>
                  </a:txBody>
                  <a:tcPr/>
                </a:tc>
                <a:tc>
                  <a:txBody>
                    <a:bodyPr/>
                    <a:lstStyle/>
                    <a:p>
                      <a:r>
                        <a:rPr lang="en-US" dirty="0"/>
                        <a:t>0.9253</a:t>
                      </a:r>
                      <a:endParaRPr lang="en-IN" dirty="0"/>
                    </a:p>
                  </a:txBody>
                  <a:tcPr/>
                </a:tc>
                <a:extLst>
                  <a:ext uri="{0D108BD9-81ED-4DB2-BD59-A6C34878D82A}">
                    <a16:rowId xmlns:a16="http://schemas.microsoft.com/office/drawing/2014/main" xmlns="" val="2285642557"/>
                  </a:ext>
                </a:extLst>
              </a:tr>
              <a:tr h="503022">
                <a:tc>
                  <a:txBody>
                    <a:bodyPr/>
                    <a:lstStyle/>
                    <a:p>
                      <a:r>
                        <a:rPr lang="en-US" dirty="0"/>
                        <a:t>RANDOM FOREST</a:t>
                      </a:r>
                      <a:endParaRPr lang="en-IN" dirty="0"/>
                    </a:p>
                  </a:txBody>
                  <a:tcPr/>
                </a:tc>
                <a:tc>
                  <a:txBody>
                    <a:bodyPr/>
                    <a:lstStyle/>
                    <a:p>
                      <a:r>
                        <a:rPr lang="en-US" dirty="0"/>
                        <a:t>13.98</a:t>
                      </a:r>
                      <a:endParaRPr lang="en-IN" dirty="0"/>
                    </a:p>
                  </a:txBody>
                  <a:tcPr/>
                </a:tc>
                <a:tc>
                  <a:txBody>
                    <a:bodyPr/>
                    <a:lstStyle/>
                    <a:p>
                      <a:r>
                        <a:rPr lang="en-US" dirty="0"/>
                        <a:t>305.53</a:t>
                      </a:r>
                      <a:endParaRPr lang="en-IN" dirty="0"/>
                    </a:p>
                  </a:txBody>
                  <a:tcPr/>
                </a:tc>
                <a:tc>
                  <a:txBody>
                    <a:bodyPr/>
                    <a:lstStyle/>
                    <a:p>
                      <a:r>
                        <a:rPr lang="en-US" dirty="0"/>
                        <a:t>17.48</a:t>
                      </a:r>
                      <a:endParaRPr lang="en-IN" dirty="0"/>
                    </a:p>
                  </a:txBody>
                  <a:tcPr/>
                </a:tc>
                <a:tc>
                  <a:txBody>
                    <a:bodyPr/>
                    <a:lstStyle/>
                    <a:p>
                      <a:r>
                        <a:rPr lang="en-US" dirty="0"/>
                        <a:t>0.9653</a:t>
                      </a:r>
                      <a:endParaRPr lang="en-IN" dirty="0"/>
                    </a:p>
                  </a:txBody>
                  <a:tcPr/>
                </a:tc>
                <a:extLst>
                  <a:ext uri="{0D108BD9-81ED-4DB2-BD59-A6C34878D82A}">
                    <a16:rowId xmlns:a16="http://schemas.microsoft.com/office/drawing/2014/main" xmlns="" val="1996154061"/>
                  </a:ext>
                </a:extLst>
              </a:tr>
              <a:tr h="503022">
                <a:tc>
                  <a:txBody>
                    <a:bodyPr/>
                    <a:lstStyle/>
                    <a:p>
                      <a:r>
                        <a:rPr lang="en-US" dirty="0"/>
                        <a:t>TUNED RANDOM FOREST</a:t>
                      </a:r>
                      <a:endParaRPr lang="en-IN" dirty="0"/>
                    </a:p>
                  </a:txBody>
                  <a:tcPr/>
                </a:tc>
                <a:tc>
                  <a:txBody>
                    <a:bodyPr/>
                    <a:lstStyle/>
                    <a:p>
                      <a:r>
                        <a:rPr lang="en-US" dirty="0"/>
                        <a:t>10.54</a:t>
                      </a:r>
                      <a:endParaRPr lang="en-IN" dirty="0"/>
                    </a:p>
                  </a:txBody>
                  <a:tcPr/>
                </a:tc>
                <a:tc>
                  <a:txBody>
                    <a:bodyPr/>
                    <a:lstStyle/>
                    <a:p>
                      <a:r>
                        <a:rPr lang="en-US" dirty="0"/>
                        <a:t>269.31</a:t>
                      </a:r>
                      <a:endParaRPr lang="en-IN" dirty="0"/>
                    </a:p>
                  </a:txBody>
                  <a:tcPr/>
                </a:tc>
                <a:tc>
                  <a:txBody>
                    <a:bodyPr/>
                    <a:lstStyle/>
                    <a:p>
                      <a:r>
                        <a:rPr lang="en-US" dirty="0"/>
                        <a:t>15.52</a:t>
                      </a:r>
                      <a:endParaRPr lang="en-IN" dirty="0"/>
                    </a:p>
                  </a:txBody>
                  <a:tcPr/>
                </a:tc>
                <a:tc>
                  <a:txBody>
                    <a:bodyPr/>
                    <a:lstStyle/>
                    <a:p>
                      <a:r>
                        <a:rPr lang="en-US" dirty="0"/>
                        <a:t>0.9657</a:t>
                      </a:r>
                      <a:endParaRPr lang="en-IN" dirty="0"/>
                    </a:p>
                  </a:txBody>
                  <a:tcPr/>
                </a:tc>
                <a:extLst>
                  <a:ext uri="{0D108BD9-81ED-4DB2-BD59-A6C34878D82A}">
                    <a16:rowId xmlns:a16="http://schemas.microsoft.com/office/drawing/2014/main" xmlns="" val="246537330"/>
                  </a:ext>
                </a:extLst>
              </a:tr>
            </a:tbl>
          </a:graphicData>
        </a:graphic>
      </p:graphicFrame>
    </p:spTree>
    <p:extLst>
      <p:ext uri="{BB962C8B-B14F-4D97-AF65-F5344CB8AC3E}">
        <p14:creationId xmlns:p14="http://schemas.microsoft.com/office/powerpoint/2010/main" xmlns="" val="12002171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0942" y="571480"/>
            <a:ext cx="9143538" cy="1066800"/>
          </a:xfrm>
        </p:spPr>
        <p:txBody>
          <a:bodyPr>
            <a:normAutofit/>
          </a:bodyPr>
          <a:lstStyle/>
          <a:p>
            <a:r>
              <a:rPr lang="en-US" sz="3600" b="1" dirty="0"/>
              <a:t>R² COMPARISION GRAPH</a:t>
            </a:r>
          </a:p>
        </p:txBody>
      </p:sp>
      <p:graphicFrame>
        <p:nvGraphicFramePr>
          <p:cNvPr id="10" name="Content Placeholder 9">
            <a:extLst>
              <a:ext uri="{FF2B5EF4-FFF2-40B4-BE49-F238E27FC236}">
                <a16:creationId xmlns:a16="http://schemas.microsoft.com/office/drawing/2014/main" xmlns="" id="{CE8FF2E1-5D98-4974-8179-5B699C0A2D49}"/>
              </a:ext>
            </a:extLst>
          </p:cNvPr>
          <p:cNvGraphicFramePr>
            <a:graphicFrameLocks noGrp="1"/>
          </p:cNvGraphicFramePr>
          <p:nvPr>
            <p:ph idx="1"/>
            <p:extLst>
              <p:ext uri="{D42A27DB-BD31-4B8C-83A1-F6EECF244321}">
                <p14:modId xmlns:p14="http://schemas.microsoft.com/office/powerpoint/2010/main" xmlns="" val="2850625760"/>
              </p:ext>
            </p:extLst>
          </p:nvPr>
        </p:nvGraphicFramePr>
        <p:xfrm>
          <a:off x="981844" y="1988840"/>
          <a:ext cx="9505056" cy="39604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xmlns="" val="89784706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FE529B-EAC5-4D1A-BE84-2EEDFF799CDA}"/>
              </a:ext>
            </a:extLst>
          </p:cNvPr>
          <p:cNvSpPr>
            <a:spLocks noGrp="1"/>
          </p:cNvSpPr>
          <p:nvPr>
            <p:ph type="title"/>
          </p:nvPr>
        </p:nvSpPr>
        <p:spPr>
          <a:xfrm>
            <a:off x="593686" y="428604"/>
            <a:ext cx="9143538" cy="1066800"/>
          </a:xfrm>
        </p:spPr>
        <p:txBody>
          <a:bodyPr>
            <a:normAutofit/>
          </a:bodyPr>
          <a:lstStyle/>
          <a:p>
            <a:r>
              <a:rPr lang="en-US" sz="3600" b="1" dirty="0"/>
              <a:t>CONCLUSION</a:t>
            </a:r>
            <a:endParaRPr lang="en-IN" sz="3600" b="1" dirty="0"/>
          </a:p>
        </p:txBody>
      </p:sp>
      <p:sp>
        <p:nvSpPr>
          <p:cNvPr id="4" name="Rectangle 3">
            <a:extLst>
              <a:ext uri="{FF2B5EF4-FFF2-40B4-BE49-F238E27FC236}">
                <a16:creationId xmlns:a16="http://schemas.microsoft.com/office/drawing/2014/main" xmlns="" id="{97F2C6C8-92CB-440E-A2DD-C33A9FAE27CB}"/>
              </a:ext>
            </a:extLst>
          </p:cNvPr>
          <p:cNvSpPr/>
          <p:nvPr/>
        </p:nvSpPr>
        <p:spPr>
          <a:xfrm>
            <a:off x="307934" y="1643050"/>
            <a:ext cx="5643602" cy="4154984"/>
          </a:xfrm>
          <a:prstGeom prst="rect">
            <a:avLst/>
          </a:prstGeom>
        </p:spPr>
        <p:txBody>
          <a:bodyPr wrap="square">
            <a:spAutoFit/>
          </a:bodyPr>
          <a:lstStyle/>
          <a:p>
            <a:r>
              <a:rPr lang="en-US" sz="2400" dirty="0" smtClean="0">
                <a:solidFill>
                  <a:srgbClr val="222222"/>
                </a:solidFill>
                <a:latin typeface="Arial" panose="020B0604020202020204" pitchFamily="34" charset="0"/>
              </a:rPr>
              <a:t>                Machine </a:t>
            </a:r>
            <a:r>
              <a:rPr lang="en-US" sz="2400" dirty="0">
                <a:solidFill>
                  <a:srgbClr val="222222"/>
                </a:solidFill>
                <a:latin typeface="Arial" panose="020B0604020202020204" pitchFamily="34" charset="0"/>
              </a:rPr>
              <a:t>Learning models were successfully applied to predict tomato prices. Random Forest and Tuned Random Forest achieved the best performance with highest R² and lowest errors. The project shows that data-driven approaches improve prediction accuracy compared to traditional methods. This model can support better decision-making for farmers and stakeholders.</a:t>
            </a:r>
            <a:endParaRPr lang="en-US" sz="2400" b="0" i="0" dirty="0">
              <a:solidFill>
                <a:srgbClr val="222222"/>
              </a:solidFill>
              <a:effectLst/>
              <a:latin typeface="Arial" panose="020B0604020202020204" pitchFamily="34" charset="0"/>
            </a:endParaRPr>
          </a:p>
        </p:txBody>
      </p:sp>
      <p:pic>
        <p:nvPicPr>
          <p:cNvPr id="5" name="Picture 4" descr="WhatsApp Image 2026-04-16 at 9.56.30 AM (1).jpeg"/>
          <p:cNvPicPr>
            <a:picLocks noChangeAspect="1"/>
          </p:cNvPicPr>
          <p:nvPr/>
        </p:nvPicPr>
        <p:blipFill>
          <a:blip r:embed="rId2"/>
          <a:stretch>
            <a:fillRect/>
          </a:stretch>
        </p:blipFill>
        <p:spPr>
          <a:xfrm>
            <a:off x="6022974" y="1428736"/>
            <a:ext cx="5921388" cy="4500594"/>
          </a:xfrm>
          <a:prstGeom prst="rect">
            <a:avLst/>
          </a:prstGeom>
        </p:spPr>
      </p:pic>
    </p:spTree>
    <p:extLst>
      <p:ext uri="{BB962C8B-B14F-4D97-AF65-F5344CB8AC3E}">
        <p14:creationId xmlns:p14="http://schemas.microsoft.com/office/powerpoint/2010/main" xmlns="" val="83650457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B3492473-225F-21AE-FA83-A1164F09485C}"/>
              </a:ext>
            </a:extLst>
          </p:cNvPr>
          <p:cNvPicPr>
            <a:picLocks noGrp="1" noChangeAspect="1"/>
          </p:cNvPicPr>
          <p:nvPr>
            <p:ph idx="1"/>
          </p:nvPr>
        </p:nvPicPr>
        <p:blipFill>
          <a:blip r:embed="rId2"/>
          <a:stretch>
            <a:fillRect/>
          </a:stretch>
        </p:blipFill>
        <p:spPr>
          <a:xfrm>
            <a:off x="450810" y="571480"/>
            <a:ext cx="11287204" cy="5546184"/>
          </a:xfrm>
          <a:prstGeom prst="rect">
            <a:avLst/>
          </a:prstGeom>
        </p:spPr>
      </p:pic>
    </p:spTree>
    <p:extLst>
      <p:ext uri="{BB962C8B-B14F-4D97-AF65-F5344CB8AC3E}">
        <p14:creationId xmlns:p14="http://schemas.microsoft.com/office/powerpoint/2010/main" xmlns="" val="301753535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oject planning overview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12000"/>
                <a:satMod val="240000"/>
              </a:schemeClr>
              <a:schemeClr val="phClr">
                <a:tint val="98000"/>
              </a:schemeClr>
            </a:duotone>
          </a:blip>
          <a:tile tx="0" ty="0" sx="100000" sy="100000" flip="none" algn="ctr"/>
        </a:blipFill>
      </a:bgFillStyleLst>
    </a:fmtScheme>
  </a:themeElements>
  <a:objectDefaults>
    <a:spDef>
      <a:spPr>
        <a:solidFill>
          <a:schemeClr val="accent1">
            <a:lumMod val="50000"/>
          </a:schemeClr>
        </a:solidFill>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pPr>
      <a:bodyPr/>
      <a:lstStyle/>
      <a:style>
        <a:lnRef idx="1">
          <a:schemeClr val="accent1"/>
        </a:lnRef>
        <a:fillRef idx="0">
          <a:schemeClr val="accent1"/>
        </a:fillRef>
        <a:effectRef idx="0">
          <a:schemeClr val="accent1"/>
        </a:effectRef>
        <a:fontRef idx="minor">
          <a:schemeClr val="tx1"/>
        </a:fontRef>
      </a:style>
    </a:lnDef>
    <a:txDef>
      <a:spPr>
        <a:noFill/>
        <a:ln>
          <a:solidFill>
            <a:schemeClr val="accent1">
              <a:lumMod val="20000"/>
              <a:lumOff val="80000"/>
            </a:schemeClr>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xmlns="" name="Business project planning overview presentation.potx" id="{0D6D6775-FC9F-484B-A889-C0FCD86449E3}" vid="{CBE6795F-D548-4056-89FC-5BC618C494F3}"/>
    </a:ext>
  </a:extLst>
</a:theme>
</file>

<file path=ppt/theme/theme2.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project planning overview presentation</Template>
  <TotalTime>192</TotalTime>
  <Words>667</Words>
  <Application>Microsoft Office PowerPoint</Application>
  <PresentationFormat>Custom</PresentationFormat>
  <Paragraphs>135</Paragraphs>
  <Slides>17</Slides>
  <Notes>11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Project planning overview presentation</vt:lpstr>
      <vt:lpstr>TOMATO PRICE FORECASTING USING MACHINE LEARNING MODELS</vt:lpstr>
      <vt:lpstr>CONTENT</vt:lpstr>
      <vt:lpstr>INTODUCTION</vt:lpstr>
      <vt:lpstr>PROBLEM STATEMENT</vt:lpstr>
      <vt:lpstr>MOTIVATION</vt:lpstr>
      <vt:lpstr>OBJECTIVES</vt:lpstr>
      <vt:lpstr>Review of Literature</vt:lpstr>
      <vt:lpstr>DATASET OVERVIEW</vt:lpstr>
      <vt:lpstr>Slide 9</vt:lpstr>
      <vt:lpstr>METHODOLOGY</vt:lpstr>
      <vt:lpstr>Slide 11</vt:lpstr>
      <vt:lpstr>Model Evaluation Metrics</vt:lpstr>
      <vt:lpstr>TOOLS AND TECHCHNOLOGY</vt:lpstr>
      <vt:lpstr>RESULT</vt:lpstr>
      <vt:lpstr>R² COMPARISION GRAPH</vt:lpstr>
      <vt:lpstr>CONCLUSION</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chandu gowda</cp:lastModifiedBy>
  <cp:revision>17</cp:revision>
  <dcterms:created xsi:type="dcterms:W3CDTF">2026-04-15T16:54:23Z</dcterms:created>
  <dcterms:modified xsi:type="dcterms:W3CDTF">2026-04-16T04:45:00Z</dcterms:modified>
</cp:coreProperties>
</file>